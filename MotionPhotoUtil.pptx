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60" r:id="rId4"/>
    <p:sldId id="261" r:id="rId5"/>
    <p:sldId id="262" r:id="rId6"/>
    <p:sldId id="263" r:id="rId7"/>
    <p:sldId id="265" r:id="rId8"/>
    <p:sldId id="264" r:id="rId9"/>
    <p:sldId id="266" r:id="rId10"/>
    <p:sldId id="267" r:id="rId11"/>
    <p:sldId id="268" r:id="rId12"/>
    <p:sldId id="269" r:id="rId13"/>
    <p:sldId id="270" r:id="rId14"/>
    <p:sldId id="271" r:id="rId15"/>
    <p:sldId id="272" r:id="rId16"/>
    <p:sldId id="273" r:id="rId17"/>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E91"/>
    <a:srgbClr val="FFDDB0"/>
    <a:srgbClr val="FFFC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754" autoAdjust="0"/>
    <p:restoredTop sz="76421" autoAdjust="0"/>
  </p:normalViewPr>
  <p:slideViewPr>
    <p:cSldViewPr snapToGrid="0">
      <p:cViewPr>
        <p:scale>
          <a:sx n="66" d="100"/>
          <a:sy n="66" d="100"/>
        </p:scale>
        <p:origin x="1800" y="38"/>
      </p:cViewPr>
      <p:guideLst/>
    </p:cSldViewPr>
  </p:slideViewPr>
  <p:notesTextViewPr>
    <p:cViewPr>
      <p:scale>
        <a:sx n="1" d="1"/>
        <a:sy n="1" d="1"/>
      </p:scale>
      <p:origin x="0" y="-432"/>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8FDFFE-3E38-4612-9335-A7C275678B10}" type="datetimeFigureOut">
              <a:rPr lang="vi-VN" smtClean="0"/>
              <a:t>24/07/2026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F882CF-67B7-4A3A-8769-696E1E7E9ABB}" type="slidenum">
              <a:rPr lang="vi-VN" smtClean="0"/>
              <a:t>‹#›</a:t>
            </a:fld>
            <a:endParaRPr lang="vi-VN"/>
          </a:p>
        </p:txBody>
      </p:sp>
    </p:spTree>
    <p:extLst>
      <p:ext uri="{BB962C8B-B14F-4D97-AF65-F5344CB8AC3E}">
        <p14:creationId xmlns:p14="http://schemas.microsoft.com/office/powerpoint/2010/main" val="1000244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Đây là module chịu trách nhiệm quản lý metadata của các file media và cung cấp một API cho các ứng dụng.</a:t>
            </a:r>
          </a:p>
        </p:txBody>
      </p:sp>
      <p:sp>
        <p:nvSpPr>
          <p:cNvPr id="4" name="Slide Number Placeholder 3"/>
          <p:cNvSpPr>
            <a:spLocks noGrp="1"/>
          </p:cNvSpPr>
          <p:nvPr>
            <p:ph type="sldNum" sz="quarter" idx="5"/>
          </p:nvPr>
        </p:nvSpPr>
        <p:spPr/>
        <p:txBody>
          <a:bodyPr/>
          <a:lstStyle/>
          <a:p>
            <a:fld id="{18F882CF-67B7-4A3A-8769-696E1E7E9ABB}" type="slidenum">
              <a:rPr lang="vi-VN" smtClean="0"/>
              <a:t>2</a:t>
            </a:fld>
            <a:endParaRPr lang="vi-VN"/>
          </a:p>
        </p:txBody>
      </p:sp>
    </p:spTree>
    <p:extLst>
      <p:ext uri="{BB962C8B-B14F-4D97-AF65-F5344CB8AC3E}">
        <p14:creationId xmlns:p14="http://schemas.microsoft.com/office/powerpoint/2010/main" val="723080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18F882CF-67B7-4A3A-8769-696E1E7E9ABB}" type="slidenum">
              <a:rPr lang="vi-VN" smtClean="0"/>
              <a:t>5</a:t>
            </a:fld>
            <a:endParaRPr lang="vi-VN"/>
          </a:p>
        </p:txBody>
      </p:sp>
    </p:spTree>
    <p:extLst>
      <p:ext uri="{BB962C8B-B14F-4D97-AF65-F5344CB8AC3E}">
        <p14:creationId xmlns:p14="http://schemas.microsoft.com/office/powerpoint/2010/main" val="2162255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18F882CF-67B7-4A3A-8769-696E1E7E9ABB}" type="slidenum">
              <a:rPr lang="vi-VN" smtClean="0"/>
              <a:t>6</a:t>
            </a:fld>
            <a:endParaRPr lang="vi-VN"/>
          </a:p>
        </p:txBody>
      </p:sp>
    </p:spTree>
    <p:extLst>
      <p:ext uri="{BB962C8B-B14F-4D97-AF65-F5344CB8AC3E}">
        <p14:creationId xmlns:p14="http://schemas.microsoft.com/office/powerpoint/2010/main" val="1999395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37774-7BDD-B236-88B4-8F04A15690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A3235-79C9-CC45-BFBD-035F2CFA37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5FECD1-8106-6DAC-B6F8-19298D609967}"/>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7F947E74-2D06-1B78-E6E2-16799C1E7288}"/>
              </a:ext>
            </a:extLst>
          </p:cNvPr>
          <p:cNvSpPr>
            <a:spLocks noGrp="1"/>
          </p:cNvSpPr>
          <p:nvPr>
            <p:ph type="sldNum" sz="quarter" idx="5"/>
          </p:nvPr>
        </p:nvSpPr>
        <p:spPr/>
        <p:txBody>
          <a:bodyPr/>
          <a:lstStyle/>
          <a:p>
            <a:fld id="{18F882CF-67B7-4A3A-8769-696E1E7E9ABB}" type="slidenum">
              <a:rPr lang="vi-VN" smtClean="0"/>
              <a:t>7</a:t>
            </a:fld>
            <a:endParaRPr lang="vi-VN"/>
          </a:p>
        </p:txBody>
      </p:sp>
    </p:spTree>
    <p:extLst>
      <p:ext uri="{BB962C8B-B14F-4D97-AF65-F5344CB8AC3E}">
        <p14:creationId xmlns:p14="http://schemas.microsoft.com/office/powerpoint/2010/main" val="4150197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050B1-CDE3-3F85-B2B2-927392C1C6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9319D-23F6-3922-258A-42DF6C384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08035-B2BC-3564-EB15-5071DE0F6045}"/>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3D26366-5FD9-BFA5-8AD3-9347D4DAAF32}"/>
              </a:ext>
            </a:extLst>
          </p:cNvPr>
          <p:cNvSpPr>
            <a:spLocks noGrp="1"/>
          </p:cNvSpPr>
          <p:nvPr>
            <p:ph type="sldNum" sz="quarter" idx="5"/>
          </p:nvPr>
        </p:nvSpPr>
        <p:spPr/>
        <p:txBody>
          <a:bodyPr/>
          <a:lstStyle/>
          <a:p>
            <a:fld id="{18F882CF-67B7-4A3A-8769-696E1E7E9ABB}" type="slidenum">
              <a:rPr lang="vi-VN" smtClean="0"/>
              <a:t>8</a:t>
            </a:fld>
            <a:endParaRPr lang="vi-VN"/>
          </a:p>
        </p:txBody>
      </p:sp>
    </p:spTree>
    <p:extLst>
      <p:ext uri="{BB962C8B-B14F-4D97-AF65-F5344CB8AC3E}">
        <p14:creationId xmlns:p14="http://schemas.microsoft.com/office/powerpoint/2010/main" val="1740163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3BD3D-2A6D-3455-3E6C-4684C0B94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1C2296-FF87-445E-F37B-3259CA6C0C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E9FD0-94F6-E38B-C28C-ABA05F447B49}"/>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9D896DE1-FE0B-D7CC-2318-F463B86F3530}"/>
              </a:ext>
            </a:extLst>
          </p:cNvPr>
          <p:cNvSpPr>
            <a:spLocks noGrp="1"/>
          </p:cNvSpPr>
          <p:nvPr>
            <p:ph type="sldNum" sz="quarter" idx="5"/>
          </p:nvPr>
        </p:nvSpPr>
        <p:spPr/>
        <p:txBody>
          <a:bodyPr/>
          <a:lstStyle/>
          <a:p>
            <a:fld id="{18F882CF-67B7-4A3A-8769-696E1E7E9ABB}" type="slidenum">
              <a:rPr lang="vi-VN" smtClean="0"/>
              <a:t>9</a:t>
            </a:fld>
            <a:endParaRPr lang="vi-VN"/>
          </a:p>
        </p:txBody>
      </p:sp>
    </p:spTree>
    <p:extLst>
      <p:ext uri="{BB962C8B-B14F-4D97-AF65-F5344CB8AC3E}">
        <p14:creationId xmlns:p14="http://schemas.microsoft.com/office/powerpoint/2010/main" val="2951241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8796A-B245-7E58-74DD-39E2449720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A903F-7077-405B-DB98-C9EC8281B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2A9DE-19D8-E4B2-1E28-2FF507CE022D}"/>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A23296DD-B7DB-B1EF-CAC5-907F04019F4B}"/>
              </a:ext>
            </a:extLst>
          </p:cNvPr>
          <p:cNvSpPr>
            <a:spLocks noGrp="1"/>
          </p:cNvSpPr>
          <p:nvPr>
            <p:ph type="sldNum" sz="quarter" idx="5"/>
          </p:nvPr>
        </p:nvSpPr>
        <p:spPr/>
        <p:txBody>
          <a:bodyPr/>
          <a:lstStyle/>
          <a:p>
            <a:fld id="{18F882CF-67B7-4A3A-8769-696E1E7E9ABB}" type="slidenum">
              <a:rPr lang="vi-VN" smtClean="0"/>
              <a:t>10</a:t>
            </a:fld>
            <a:endParaRPr lang="vi-VN"/>
          </a:p>
        </p:txBody>
      </p:sp>
    </p:spTree>
    <p:extLst>
      <p:ext uri="{BB962C8B-B14F-4D97-AF65-F5344CB8AC3E}">
        <p14:creationId xmlns:p14="http://schemas.microsoft.com/office/powerpoint/2010/main" val="3924961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3454D-F6B5-C006-3B1C-DD9B8F7E9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31FD8-E9D5-ABF2-5F9E-C18BC3AC1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01BC2-AFBA-09EB-4D52-84A28BD4F10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DAEAF154-594C-17AD-DB2B-FF2A0D84D02E}"/>
              </a:ext>
            </a:extLst>
          </p:cNvPr>
          <p:cNvSpPr>
            <a:spLocks noGrp="1"/>
          </p:cNvSpPr>
          <p:nvPr>
            <p:ph type="sldNum" sz="quarter" idx="5"/>
          </p:nvPr>
        </p:nvSpPr>
        <p:spPr/>
        <p:txBody>
          <a:bodyPr/>
          <a:lstStyle/>
          <a:p>
            <a:fld id="{18F882CF-67B7-4A3A-8769-696E1E7E9ABB}" type="slidenum">
              <a:rPr lang="vi-VN" smtClean="0"/>
              <a:t>11</a:t>
            </a:fld>
            <a:endParaRPr lang="vi-VN"/>
          </a:p>
        </p:txBody>
      </p:sp>
    </p:spTree>
    <p:extLst>
      <p:ext uri="{BB962C8B-B14F-4D97-AF65-F5344CB8AC3E}">
        <p14:creationId xmlns:p14="http://schemas.microsoft.com/office/powerpoint/2010/main" val="3272579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95FAC-8A9B-E05E-1837-7A3FD8FB3C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1C304-C4B3-C5A6-94FA-2BFE0DFD70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F07B83-BBD5-0737-2A39-4E613C20580C}"/>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236DB501-D327-243D-6A27-0FCD0F086006}"/>
              </a:ext>
            </a:extLst>
          </p:cNvPr>
          <p:cNvSpPr>
            <a:spLocks noGrp="1"/>
          </p:cNvSpPr>
          <p:nvPr>
            <p:ph type="sldNum" sz="quarter" idx="5"/>
          </p:nvPr>
        </p:nvSpPr>
        <p:spPr/>
        <p:txBody>
          <a:bodyPr/>
          <a:lstStyle/>
          <a:p>
            <a:fld id="{18F882CF-67B7-4A3A-8769-696E1E7E9ABB}" type="slidenum">
              <a:rPr lang="vi-VN" smtClean="0"/>
              <a:t>12</a:t>
            </a:fld>
            <a:endParaRPr lang="vi-VN"/>
          </a:p>
        </p:txBody>
      </p:sp>
    </p:spTree>
    <p:extLst>
      <p:ext uri="{BB962C8B-B14F-4D97-AF65-F5344CB8AC3E}">
        <p14:creationId xmlns:p14="http://schemas.microsoft.com/office/powerpoint/2010/main" val="672096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9E3DF-9E00-B3DD-7109-C714D792D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ABBFF7-1093-E6C5-FD93-27E07F89F4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09AEF-5B44-B745-13B0-A3461C5973F8}"/>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3340ACA8-912B-44A1-3489-4DC0326D4C86}"/>
              </a:ext>
            </a:extLst>
          </p:cNvPr>
          <p:cNvSpPr>
            <a:spLocks noGrp="1"/>
          </p:cNvSpPr>
          <p:nvPr>
            <p:ph type="sldNum" sz="quarter" idx="5"/>
          </p:nvPr>
        </p:nvSpPr>
        <p:spPr/>
        <p:txBody>
          <a:bodyPr/>
          <a:lstStyle/>
          <a:p>
            <a:fld id="{18F882CF-67B7-4A3A-8769-696E1E7E9ABB}" type="slidenum">
              <a:rPr lang="vi-VN" smtClean="0"/>
              <a:t>13</a:t>
            </a:fld>
            <a:endParaRPr lang="vi-VN"/>
          </a:p>
        </p:txBody>
      </p:sp>
    </p:spTree>
    <p:extLst>
      <p:ext uri="{BB962C8B-B14F-4D97-AF65-F5344CB8AC3E}">
        <p14:creationId xmlns:p14="http://schemas.microsoft.com/office/powerpoint/2010/main" val="3813207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BE885-964C-F86F-77AC-CB7717395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BD54B-448F-1ACA-C927-C904DFC66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EE698-E86E-1ECC-787F-A2DCAB1A96D3}"/>
              </a:ext>
            </a:extLst>
          </p:cNvPr>
          <p:cNvSpPr>
            <a:spLocks noGrp="1"/>
          </p:cNvSpPr>
          <p:nvPr>
            <p:ph type="body" idx="1"/>
          </p:nvPr>
        </p:nvSpPr>
        <p:spPr/>
        <p:txBody>
          <a:bodyPr/>
          <a:lstStyle/>
          <a:p>
            <a:r>
              <a:rPr lang="vi-VN"/>
              <a:t>Motion Photo thường có dung lượng khá lớn vì ngoài ảnh còn chứa cả video.</a:t>
            </a:r>
          </a:p>
          <a:p>
            <a:r>
              <a:rPr lang="vi-VN"/>
              <a:t>Nếu người dùng luôn tải về file gốc thì sẽ mất nhiều thời gian và băng thông.</a:t>
            </a:r>
          </a:p>
          <a:p>
            <a:r>
              <a:rPr lang="vi-VN"/>
              <a:t>Vì vậy trong Cloud Gallery, khi người dùng upload một Motion Photo, hệ thống sẽ lưu hai phiên bản.</a:t>
            </a:r>
          </a:p>
          <a:p>
            <a:r>
              <a:rPr lang="vi-VN"/>
              <a:t>Một là </a:t>
            </a:r>
            <a:r>
              <a:rPr lang="vi-VN" b="1"/>
              <a:t>file gốc</a:t>
            </a:r>
            <a:r>
              <a:rPr lang="vi-VN"/>
              <a:t>.</a:t>
            </a:r>
          </a:p>
          <a:p>
            <a:r>
              <a:rPr lang="vi-VN"/>
              <a:t>Hai là </a:t>
            </a:r>
            <a:r>
              <a:rPr lang="vi-VN" b="1"/>
              <a:t>phiên bản đã giảm kích thước</a:t>
            </a:r>
            <a:r>
              <a:rPr lang="vi-VN"/>
              <a:t>, hay còn gọi là downsized Motion Photo.</a:t>
            </a:r>
          </a:p>
          <a:p>
            <a:r>
              <a:rPr lang="vi-VN"/>
              <a:t>Khi người dùng xem hoặc tải ảnh, hệ thống có thể sử dụng bản downsized để tăng tốc độ tải.</a:t>
            </a:r>
          </a:p>
          <a:p>
            <a:r>
              <a:rPr lang="vi-VN"/>
              <a:t>Tuy nhiên, một yêu cầu quan trọng là người dùng vẫn phải có trải nghiệm Motion Photo giống như file gốc.</a:t>
            </a:r>
          </a:p>
          <a:p>
            <a:r>
              <a:rPr lang="vi-VN"/>
              <a:t>Đây là lúc MPUtil phát huy vai trò của mình.</a:t>
            </a:r>
          </a:p>
          <a:p>
            <a:r>
              <a:rPr lang="vi-VN"/>
              <a:t>Framework cung cấp các API để </a:t>
            </a:r>
            <a:r>
              <a:rPr lang="vi-VN" b="1"/>
              <a:t>Compose Motion Photo</a:t>
            </a:r>
            <a:r>
              <a:rPr lang="vi-VN"/>
              <a:t>, nghĩa là kết hợp image, video và metadata để tạo lại một Motion Photo hợp lệ.</a:t>
            </a:r>
          </a:p>
          <a:p>
            <a:r>
              <a:rPr lang="vi-VN"/>
              <a:t>Nhờ đó Cloud không cần tự xây dựng lại logic xử lý metadata hay cấu trúc Motion Photo.</a:t>
            </a:r>
          </a:p>
          <a:p>
            <a:r>
              <a:rPr lang="vi-VN"/>
              <a:t>Toàn bộ việc tạo lại Motion Photo đều được MPUtil đảm nhiệm.</a:t>
            </a:r>
          </a:p>
          <a:p>
            <a:r>
              <a:rPr lang="vi-VN"/>
              <a:t>Đây là một ví dụ cho thấy MPUtil không chỉ dùng để đọc metadata mà còn có thể tạo ra Motion Photo hoàn chỉnh từ nhiều nguồn dữ liệu khác nhau.</a:t>
            </a:r>
          </a:p>
          <a:p>
            <a:endParaRPr lang="vi-VN"/>
          </a:p>
        </p:txBody>
      </p:sp>
      <p:sp>
        <p:nvSpPr>
          <p:cNvPr id="4" name="Slide Number Placeholder 3">
            <a:extLst>
              <a:ext uri="{FF2B5EF4-FFF2-40B4-BE49-F238E27FC236}">
                <a16:creationId xmlns:a16="http://schemas.microsoft.com/office/drawing/2014/main" id="{BA33EFF8-6750-FB9D-948E-E0738CFF4152}"/>
              </a:ext>
            </a:extLst>
          </p:cNvPr>
          <p:cNvSpPr>
            <a:spLocks noGrp="1"/>
          </p:cNvSpPr>
          <p:nvPr>
            <p:ph type="sldNum" sz="quarter" idx="5"/>
          </p:nvPr>
        </p:nvSpPr>
        <p:spPr/>
        <p:txBody>
          <a:bodyPr/>
          <a:lstStyle/>
          <a:p>
            <a:fld id="{18F882CF-67B7-4A3A-8769-696E1E7E9ABB}" type="slidenum">
              <a:rPr lang="vi-VN" smtClean="0"/>
              <a:t>14</a:t>
            </a:fld>
            <a:endParaRPr lang="vi-VN"/>
          </a:p>
        </p:txBody>
      </p:sp>
    </p:spTree>
    <p:extLst>
      <p:ext uri="{BB962C8B-B14F-4D97-AF65-F5344CB8AC3E}">
        <p14:creationId xmlns:p14="http://schemas.microsoft.com/office/powerpoint/2010/main" val="37481926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28E35-E819-6CDF-2C0B-F39236B86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D7692-9DFB-7C69-6152-E74310940D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301FD-624F-C37F-90FF-4DBEE85F2146}"/>
              </a:ext>
            </a:extLst>
          </p:cNvPr>
          <p:cNvSpPr>
            <a:spLocks noGrp="1"/>
          </p:cNvSpPr>
          <p:nvPr>
            <p:ph type="body" idx="1"/>
          </p:nvPr>
        </p:nvSpPr>
        <p:spPr/>
        <p:txBody>
          <a:bodyPr/>
          <a:lstStyle/>
          <a:p>
            <a:r>
              <a:rPr lang="vi-VN"/>
              <a:t>Một bài toán khác trong Gallery là ghép nhiều Motion Photo thành một video dài.</a:t>
            </a:r>
          </a:p>
          <a:p>
            <a:r>
              <a:rPr lang="vi-VN"/>
              <a:t>Trước đây Gallery sử dụng pipeline của Story.</a:t>
            </a:r>
          </a:p>
          <a:p>
            <a:r>
              <a:rPr lang="vi-VN"/>
              <a:t>Pipeline này hoạt động ổn định nhưng có một nhược điểm là </a:t>
            </a:r>
            <a:r>
              <a:rPr lang="vi-VN" b="1"/>
              <a:t>mọi video đều được transcode trước khi merge</a:t>
            </a:r>
            <a:r>
              <a:rPr lang="vi-VN"/>
              <a:t>, bất kể chúng có cùng codec hay cùng độ phân giải hay không.</a:t>
            </a:r>
          </a:p>
          <a:p>
            <a:r>
              <a:rPr lang="vi-VN"/>
              <a:t>Trong thực tế, các Motion Photo thường được chụp liên tiếp trong cùng một phiên chụp.</a:t>
            </a:r>
          </a:p>
          <a:p>
            <a:r>
              <a:rPr lang="vi-VN"/>
              <a:t>Vì vậy chúng thường có cùng codec, cùng độ phân giải, cùng frame rate và cùng color format.</a:t>
            </a:r>
          </a:p>
          <a:p>
            <a:r>
              <a:rPr lang="vi-VN"/>
              <a:t>Điều đó có nghĩa là rất nhiều video thực ra </a:t>
            </a:r>
            <a:r>
              <a:rPr lang="vi-VN" b="1"/>
              <a:t>không cần transcode</a:t>
            </a:r>
            <a:r>
              <a:rPr lang="vi-VN"/>
              <a:t>.</a:t>
            </a:r>
          </a:p>
          <a:p>
            <a:r>
              <a:rPr lang="vi-VN"/>
              <a:t>MotionScrap được xây dựng để giải quyết chính bài toán này.</a:t>
            </a:r>
          </a:p>
          <a:p>
            <a:r>
              <a:rPr lang="vi-VN"/>
              <a:t>Thay vì áp dụng một pipeline cố định cho tất cả video, MotionScrap sẽ kiểm tra khả năng tương thích của từng clip.</a:t>
            </a:r>
          </a:p>
          <a:p>
            <a:r>
              <a:rPr lang="vi-VN"/>
              <a:t>Nếu clip đã tương thích thì chỉ cần </a:t>
            </a:r>
            <a:r>
              <a:rPr lang="vi-VN" b="1"/>
              <a:t>Transfer</a:t>
            </a:r>
            <a:r>
              <a:rPr lang="vi-VN"/>
              <a:t>.</a:t>
            </a:r>
          </a:p>
          <a:p>
            <a:r>
              <a:rPr lang="vi-VN"/>
              <a:t>Chỉ những clip không tương thích mới cần </a:t>
            </a:r>
            <a:r>
              <a:rPr lang="vi-VN" b="1"/>
              <a:t>Transcode</a:t>
            </a:r>
            <a:r>
              <a:rPr lang="vi-VN"/>
              <a:t>.</a:t>
            </a:r>
          </a:p>
          <a:p>
            <a:r>
              <a:rPr lang="vi-VN"/>
              <a:t>Điều quan trọng là MotionScrap không tự phát triển toàn bộ pipeline từ đầu.</a:t>
            </a:r>
          </a:p>
          <a:p>
            <a:r>
              <a:rPr lang="vi-VN"/>
              <a:t>Nó tái sử dụng các thành phần sẵn có của MPUtil như Metadata Reader, MediaFile và Video Processing Pipeline.</a:t>
            </a:r>
          </a:p>
          <a:p>
            <a:r>
              <a:rPr lang="vi-VN"/>
              <a:t>MotionScrap chỉ bổ sung thêm chiến lược lựa chọn giữa Transfer và Transcode.</a:t>
            </a:r>
          </a:p>
          <a:p>
            <a:r>
              <a:rPr lang="vi-VN"/>
              <a:t>Kết quả là với bộ dữ liệu thử nghiệm gồm 100 Motion Photo, thời gian xử lý giảm từ </a:t>
            </a:r>
            <a:r>
              <a:rPr lang="vi-VN" b="1"/>
              <a:t>97 giây xuống còn 26 giây</a:t>
            </a:r>
            <a:r>
              <a:rPr lang="vi-VN"/>
              <a:t>, tương đương nhanh hơn khoảng </a:t>
            </a:r>
            <a:r>
              <a:rPr lang="vi-VN" b="1"/>
              <a:t>3.7 lần</a:t>
            </a:r>
            <a:r>
              <a:rPr lang="vi-VN"/>
              <a:t>, trong khi vẫn giữ nguyên chất lượng video gốc. </a:t>
            </a:r>
          </a:p>
          <a:p>
            <a:r>
              <a:rPr lang="vi-VN"/>
              <a:t>Đây là một ví dụ rất điển hình cho cách MPUtil được sử dụng như nền tảng để xây dựng các tính năng mới mà không cần viết lại toàn bộ hệ thống xử lý media.</a:t>
            </a:r>
          </a:p>
          <a:p>
            <a:endParaRPr lang="vi-VN"/>
          </a:p>
        </p:txBody>
      </p:sp>
      <p:sp>
        <p:nvSpPr>
          <p:cNvPr id="4" name="Slide Number Placeholder 3">
            <a:extLst>
              <a:ext uri="{FF2B5EF4-FFF2-40B4-BE49-F238E27FC236}">
                <a16:creationId xmlns:a16="http://schemas.microsoft.com/office/drawing/2014/main" id="{115D6A6B-CEE7-8E56-0B62-EB719DB0CAE2}"/>
              </a:ext>
            </a:extLst>
          </p:cNvPr>
          <p:cNvSpPr>
            <a:spLocks noGrp="1"/>
          </p:cNvSpPr>
          <p:nvPr>
            <p:ph type="sldNum" sz="quarter" idx="5"/>
          </p:nvPr>
        </p:nvSpPr>
        <p:spPr/>
        <p:txBody>
          <a:bodyPr/>
          <a:lstStyle/>
          <a:p>
            <a:fld id="{18F882CF-67B7-4A3A-8769-696E1E7E9ABB}" type="slidenum">
              <a:rPr lang="vi-VN" smtClean="0"/>
              <a:t>15</a:t>
            </a:fld>
            <a:endParaRPr lang="vi-VN"/>
          </a:p>
        </p:txBody>
      </p:sp>
    </p:spTree>
    <p:extLst>
      <p:ext uri="{BB962C8B-B14F-4D97-AF65-F5344CB8AC3E}">
        <p14:creationId xmlns:p14="http://schemas.microsoft.com/office/powerpoint/2010/main" val="15270211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8E197-98F5-823D-EF61-991DDCBC7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4B4C5-41CE-3E28-DD56-F86047052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4560D1-4CDA-79F8-FCA2-DCFC5FB547A9}"/>
              </a:ext>
            </a:extLst>
          </p:cNvPr>
          <p:cNvSpPr>
            <a:spLocks noGrp="1"/>
          </p:cNvSpPr>
          <p:nvPr>
            <p:ph type="body" idx="1"/>
          </p:nvPr>
        </p:nvSpPr>
        <p:spPr/>
        <p:txBody>
          <a:bodyPr/>
          <a:lstStyle/>
          <a:p>
            <a:r>
              <a:rPr lang="vi-VN"/>
              <a:t>Đây là một thư viện media processing dành cho Cloud Gallery, được đóng gói dưới dạng Spring Boot Starter để các dịch vụ Cloud có thể tích hợp dễ dàng.</a:t>
            </a:r>
          </a:p>
          <a:p>
            <a:r>
              <a:rPr lang="vi-VN"/>
              <a:t>Trước đây, MotionPhotoUtil chỉ chạy trên Android vì phụ thuộc rất nhiều vào Android APIs như MediaCodec, MediaExtractor hay Bitmap.</a:t>
            </a:r>
          </a:p>
          <a:p>
            <a:r>
              <a:rPr lang="vi-VN"/>
              <a:t>Điều này không thành vấn đề khi toàn bộ xử lý đều diễn ra trên thiết bị.</a:t>
            </a:r>
          </a:p>
          <a:p>
            <a:r>
              <a:rPr lang="vi-VN"/>
              <a:t>Tuy nhiên, khi Cloud Gallery cần thực hiện các tác vụ như phân tích Motion Photo, chuyển metadata hoặc xử lý SuperHDR ngay trên server, Android APIs không còn sử dụng được nữa.</a:t>
            </a:r>
          </a:p>
          <a:p>
            <a:r>
              <a:rPr lang="vi-VN"/>
              <a:t>Đó là lý do MPUtil được chuyển sang </a:t>
            </a:r>
            <a:r>
              <a:rPr lang="vi-VN" b="1"/>
              <a:t>Kotlin Multiplatform</a:t>
            </a:r>
            <a:r>
              <a:rPr lang="vi-VN"/>
              <a:t>.</a:t>
            </a:r>
          </a:p>
          <a:p>
            <a:r>
              <a:rPr lang="vi-VN"/>
              <a:t>Phần business logic và xử lý metadata được chia sẻ giữa Android và JVM.</a:t>
            </a:r>
          </a:p>
          <a:p>
            <a:r>
              <a:rPr lang="vi-VN"/>
              <a:t>Mỗi nền tảng chỉ hiện thực các API đặc thù thông qua cơ chế </a:t>
            </a:r>
            <a:r>
              <a:rPr lang="vi-VN" b="1"/>
              <a:t>expect/actual</a:t>
            </a:r>
            <a:r>
              <a:rPr lang="vi-VN"/>
              <a:t>.</a:t>
            </a:r>
          </a:p>
          <a:p>
            <a:r>
              <a:rPr lang="vi-VN"/>
              <a:t>Trên Android, framework tiếp tục sử dụng MediaCodec và các Android APIs.</a:t>
            </a:r>
          </a:p>
          <a:p>
            <a:r>
              <a:rPr lang="vi-VN"/>
              <a:t>Trong khi đó, trên JVM, các thành phần tương đương như FFmpeg, Exiv2, metadata-extractor và MP4Parser được sử dụng để thay thế. </a:t>
            </a:r>
          </a:p>
          <a:p>
            <a:r>
              <a:rPr lang="vi-VN"/>
              <a:t>Nhờ đó, cùng một bộ logic xử lý Motion Photo và metadata có thể hoạt động nhất quán trên cả thiết bị và Cloud.</a:t>
            </a:r>
          </a:p>
          <a:p>
            <a:r>
              <a:rPr lang="vi-VN"/>
              <a:t>Đây cũng là bước mở rộng quan trọng nhất của MPUtil: từ một framework dành cho Android trở thành nền tảng xử lý media đa nền tảng, phục vụ cho cả hệ sinh thái Cloud Gallery.</a:t>
            </a:r>
          </a:p>
          <a:p>
            <a:endParaRPr lang="vi-VN"/>
          </a:p>
        </p:txBody>
      </p:sp>
      <p:sp>
        <p:nvSpPr>
          <p:cNvPr id="4" name="Slide Number Placeholder 3">
            <a:extLst>
              <a:ext uri="{FF2B5EF4-FFF2-40B4-BE49-F238E27FC236}">
                <a16:creationId xmlns:a16="http://schemas.microsoft.com/office/drawing/2014/main" id="{0F565CD3-E51E-2609-4475-AA207F161B42}"/>
              </a:ext>
            </a:extLst>
          </p:cNvPr>
          <p:cNvSpPr>
            <a:spLocks noGrp="1"/>
          </p:cNvSpPr>
          <p:nvPr>
            <p:ph type="sldNum" sz="quarter" idx="5"/>
          </p:nvPr>
        </p:nvSpPr>
        <p:spPr/>
        <p:txBody>
          <a:bodyPr/>
          <a:lstStyle/>
          <a:p>
            <a:fld id="{18F882CF-67B7-4A3A-8769-696E1E7E9ABB}" type="slidenum">
              <a:rPr lang="vi-VN" smtClean="0"/>
              <a:t>16</a:t>
            </a:fld>
            <a:endParaRPr lang="vi-VN"/>
          </a:p>
        </p:txBody>
      </p:sp>
    </p:spTree>
    <p:extLst>
      <p:ext uri="{BB962C8B-B14F-4D97-AF65-F5344CB8AC3E}">
        <p14:creationId xmlns:p14="http://schemas.microsoft.com/office/powerpoint/2010/main" val="3756875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E2D8B-7100-42EC-9DBD-1DA1192F27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3F80AF22-64D5-784D-40AC-F0C1F6F6E2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FF085A05-93F6-4D83-F8AD-F0A281D1CCE2}"/>
              </a:ext>
            </a:extLst>
          </p:cNvPr>
          <p:cNvSpPr>
            <a:spLocks noGrp="1"/>
          </p:cNvSpPr>
          <p:nvPr>
            <p:ph type="dt" sz="half" idx="10"/>
          </p:nvPr>
        </p:nvSpPr>
        <p:spPr/>
        <p:txBody>
          <a:bodyPr/>
          <a:lstStyle/>
          <a:p>
            <a:fld id="{DA9525E5-9276-4D18-8E86-96A1132D617B}" type="datetimeFigureOut">
              <a:rPr lang="vi-VN" smtClean="0"/>
              <a:t>24/07/2026</a:t>
            </a:fld>
            <a:endParaRPr lang="vi-VN"/>
          </a:p>
        </p:txBody>
      </p:sp>
      <p:sp>
        <p:nvSpPr>
          <p:cNvPr id="5" name="Footer Placeholder 4">
            <a:extLst>
              <a:ext uri="{FF2B5EF4-FFF2-40B4-BE49-F238E27FC236}">
                <a16:creationId xmlns:a16="http://schemas.microsoft.com/office/drawing/2014/main" id="{3DDEA722-2622-1F6C-C701-4A239B5FDA46}"/>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EBDEFBE0-CDB9-EF18-929E-7EACA2AFF096}"/>
              </a:ext>
            </a:extLst>
          </p:cNvPr>
          <p:cNvSpPr>
            <a:spLocks noGrp="1"/>
          </p:cNvSpPr>
          <p:nvPr>
            <p:ph type="sldNum" sz="quarter" idx="12"/>
          </p:nvPr>
        </p:nvSpPr>
        <p:spPr/>
        <p:txBody>
          <a:bodyPr/>
          <a:lstStyle/>
          <a:p>
            <a:fld id="{82FA9A0C-A242-46F3-A9E4-6F1ADE77486F}" type="slidenum">
              <a:rPr lang="vi-VN" smtClean="0"/>
              <a:t>‹#›</a:t>
            </a:fld>
            <a:endParaRPr lang="vi-VN"/>
          </a:p>
        </p:txBody>
      </p:sp>
    </p:spTree>
    <p:extLst>
      <p:ext uri="{BB962C8B-B14F-4D97-AF65-F5344CB8AC3E}">
        <p14:creationId xmlns:p14="http://schemas.microsoft.com/office/powerpoint/2010/main" val="1028117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EEF64-F335-8E76-9F50-BBE55C8B0509}"/>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FFCD7B8A-1BA5-2A77-5D75-85EC1CF365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649A65EA-1F5F-394C-4E5E-FBB4E2F885BA}"/>
              </a:ext>
            </a:extLst>
          </p:cNvPr>
          <p:cNvSpPr>
            <a:spLocks noGrp="1"/>
          </p:cNvSpPr>
          <p:nvPr>
            <p:ph type="dt" sz="half" idx="10"/>
          </p:nvPr>
        </p:nvSpPr>
        <p:spPr/>
        <p:txBody>
          <a:bodyPr/>
          <a:lstStyle/>
          <a:p>
            <a:fld id="{DA9525E5-9276-4D18-8E86-96A1132D617B}" type="datetimeFigureOut">
              <a:rPr lang="vi-VN" smtClean="0"/>
              <a:t>24/07/2026</a:t>
            </a:fld>
            <a:endParaRPr lang="vi-VN"/>
          </a:p>
        </p:txBody>
      </p:sp>
      <p:sp>
        <p:nvSpPr>
          <p:cNvPr id="5" name="Footer Placeholder 4">
            <a:extLst>
              <a:ext uri="{FF2B5EF4-FFF2-40B4-BE49-F238E27FC236}">
                <a16:creationId xmlns:a16="http://schemas.microsoft.com/office/drawing/2014/main" id="{4AA70918-D6BF-6A95-E87B-4BBB8A7F48C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449A3C76-C4B6-7A74-B797-415895CFCFC1}"/>
              </a:ext>
            </a:extLst>
          </p:cNvPr>
          <p:cNvSpPr>
            <a:spLocks noGrp="1"/>
          </p:cNvSpPr>
          <p:nvPr>
            <p:ph type="sldNum" sz="quarter" idx="12"/>
          </p:nvPr>
        </p:nvSpPr>
        <p:spPr/>
        <p:txBody>
          <a:bodyPr/>
          <a:lstStyle/>
          <a:p>
            <a:fld id="{82FA9A0C-A242-46F3-A9E4-6F1ADE77486F}" type="slidenum">
              <a:rPr lang="vi-VN" smtClean="0"/>
              <a:t>‹#›</a:t>
            </a:fld>
            <a:endParaRPr lang="vi-VN"/>
          </a:p>
        </p:txBody>
      </p:sp>
    </p:spTree>
    <p:extLst>
      <p:ext uri="{BB962C8B-B14F-4D97-AF65-F5344CB8AC3E}">
        <p14:creationId xmlns:p14="http://schemas.microsoft.com/office/powerpoint/2010/main" val="288896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F093E-AC04-C703-D5B1-5560775365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DEC2E738-65B1-AA8E-10AD-D61F13308B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4BAB57-CC04-1ECC-2BCB-EA1CFF00063D}"/>
              </a:ext>
            </a:extLst>
          </p:cNvPr>
          <p:cNvSpPr>
            <a:spLocks noGrp="1"/>
          </p:cNvSpPr>
          <p:nvPr>
            <p:ph type="dt" sz="half" idx="10"/>
          </p:nvPr>
        </p:nvSpPr>
        <p:spPr/>
        <p:txBody>
          <a:bodyPr/>
          <a:lstStyle/>
          <a:p>
            <a:fld id="{DA9525E5-9276-4D18-8E86-96A1132D617B}" type="datetimeFigureOut">
              <a:rPr lang="vi-VN" smtClean="0"/>
              <a:t>24/07/2026</a:t>
            </a:fld>
            <a:endParaRPr lang="vi-VN"/>
          </a:p>
        </p:txBody>
      </p:sp>
      <p:sp>
        <p:nvSpPr>
          <p:cNvPr id="5" name="Footer Placeholder 4">
            <a:extLst>
              <a:ext uri="{FF2B5EF4-FFF2-40B4-BE49-F238E27FC236}">
                <a16:creationId xmlns:a16="http://schemas.microsoft.com/office/drawing/2014/main" id="{462C8FD1-D71F-3B44-C431-8C626F5A0D3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672B669F-194C-32C6-2F21-8565AEDCA407}"/>
              </a:ext>
            </a:extLst>
          </p:cNvPr>
          <p:cNvSpPr>
            <a:spLocks noGrp="1"/>
          </p:cNvSpPr>
          <p:nvPr>
            <p:ph type="sldNum" sz="quarter" idx="12"/>
          </p:nvPr>
        </p:nvSpPr>
        <p:spPr/>
        <p:txBody>
          <a:bodyPr/>
          <a:lstStyle/>
          <a:p>
            <a:fld id="{82FA9A0C-A242-46F3-A9E4-6F1ADE77486F}" type="slidenum">
              <a:rPr lang="vi-VN" smtClean="0"/>
              <a:t>‹#›</a:t>
            </a:fld>
            <a:endParaRPr lang="vi-VN"/>
          </a:p>
        </p:txBody>
      </p:sp>
    </p:spTree>
    <p:extLst>
      <p:ext uri="{BB962C8B-B14F-4D97-AF65-F5344CB8AC3E}">
        <p14:creationId xmlns:p14="http://schemas.microsoft.com/office/powerpoint/2010/main" val="449058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65988-E31F-1922-5EF9-C6EB228E5EBC}"/>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18837D8A-CD91-673B-8C5F-6E69A20283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4B2C2F57-1C9E-150F-4BE7-0F245BFC72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6AF16B0D-23AB-CDFF-D845-FCAE708E27EA}"/>
              </a:ext>
            </a:extLst>
          </p:cNvPr>
          <p:cNvSpPr>
            <a:spLocks noGrp="1"/>
          </p:cNvSpPr>
          <p:nvPr>
            <p:ph type="dt" sz="half" idx="10"/>
          </p:nvPr>
        </p:nvSpPr>
        <p:spPr/>
        <p:txBody>
          <a:bodyPr/>
          <a:lstStyle/>
          <a:p>
            <a:fld id="{DA9525E5-9276-4D18-8E86-96A1132D617B}" type="datetimeFigureOut">
              <a:rPr lang="vi-VN" smtClean="0"/>
              <a:t>24/07/2026</a:t>
            </a:fld>
            <a:endParaRPr lang="vi-VN"/>
          </a:p>
        </p:txBody>
      </p:sp>
      <p:sp>
        <p:nvSpPr>
          <p:cNvPr id="6" name="Footer Placeholder 5">
            <a:extLst>
              <a:ext uri="{FF2B5EF4-FFF2-40B4-BE49-F238E27FC236}">
                <a16:creationId xmlns:a16="http://schemas.microsoft.com/office/drawing/2014/main" id="{B5EC8CE7-2714-01B6-B2C6-608232D5D549}"/>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DAE83337-A4C0-33B5-D57C-26759B39F9B9}"/>
              </a:ext>
            </a:extLst>
          </p:cNvPr>
          <p:cNvSpPr>
            <a:spLocks noGrp="1"/>
          </p:cNvSpPr>
          <p:nvPr>
            <p:ph type="sldNum" sz="quarter" idx="12"/>
          </p:nvPr>
        </p:nvSpPr>
        <p:spPr/>
        <p:txBody>
          <a:bodyPr/>
          <a:lstStyle/>
          <a:p>
            <a:fld id="{82FA9A0C-A242-46F3-A9E4-6F1ADE77486F}" type="slidenum">
              <a:rPr lang="vi-VN" smtClean="0"/>
              <a:t>‹#›</a:t>
            </a:fld>
            <a:endParaRPr lang="vi-VN"/>
          </a:p>
        </p:txBody>
      </p:sp>
    </p:spTree>
    <p:extLst>
      <p:ext uri="{BB962C8B-B14F-4D97-AF65-F5344CB8AC3E}">
        <p14:creationId xmlns:p14="http://schemas.microsoft.com/office/powerpoint/2010/main" val="655208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CE545-B9AE-C415-E958-E4DD62F565A9}"/>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4D5199E2-5F82-7868-6BAC-E5785A3373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DD771D-52AE-7BCB-E549-DEE7C71CDF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06C74C2E-DFB4-F313-C73F-9C0928471B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49FC9C-1610-88C8-CDBF-2A26480EC4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432A23D2-343B-FC57-C790-24F50C6DFA45}"/>
              </a:ext>
            </a:extLst>
          </p:cNvPr>
          <p:cNvSpPr>
            <a:spLocks noGrp="1"/>
          </p:cNvSpPr>
          <p:nvPr>
            <p:ph type="dt" sz="half" idx="10"/>
          </p:nvPr>
        </p:nvSpPr>
        <p:spPr/>
        <p:txBody>
          <a:bodyPr/>
          <a:lstStyle/>
          <a:p>
            <a:fld id="{DA9525E5-9276-4D18-8E86-96A1132D617B}" type="datetimeFigureOut">
              <a:rPr lang="vi-VN" smtClean="0"/>
              <a:t>24/07/2026</a:t>
            </a:fld>
            <a:endParaRPr lang="vi-VN"/>
          </a:p>
        </p:txBody>
      </p:sp>
      <p:sp>
        <p:nvSpPr>
          <p:cNvPr id="8" name="Footer Placeholder 7">
            <a:extLst>
              <a:ext uri="{FF2B5EF4-FFF2-40B4-BE49-F238E27FC236}">
                <a16:creationId xmlns:a16="http://schemas.microsoft.com/office/drawing/2014/main" id="{CEE13C65-0992-47B9-33CC-4B3200FB049F}"/>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7341B903-7E6A-BC68-A5C9-1DDCB91A6F05}"/>
              </a:ext>
            </a:extLst>
          </p:cNvPr>
          <p:cNvSpPr>
            <a:spLocks noGrp="1"/>
          </p:cNvSpPr>
          <p:nvPr>
            <p:ph type="sldNum" sz="quarter" idx="12"/>
          </p:nvPr>
        </p:nvSpPr>
        <p:spPr/>
        <p:txBody>
          <a:bodyPr/>
          <a:lstStyle/>
          <a:p>
            <a:fld id="{82FA9A0C-A242-46F3-A9E4-6F1ADE77486F}" type="slidenum">
              <a:rPr lang="vi-VN" smtClean="0"/>
              <a:t>‹#›</a:t>
            </a:fld>
            <a:endParaRPr lang="vi-VN"/>
          </a:p>
        </p:txBody>
      </p:sp>
    </p:spTree>
    <p:extLst>
      <p:ext uri="{BB962C8B-B14F-4D97-AF65-F5344CB8AC3E}">
        <p14:creationId xmlns:p14="http://schemas.microsoft.com/office/powerpoint/2010/main" val="321705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CEE37-3CAC-F526-A579-19C56FF37454}"/>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600B0649-8FCC-E75B-2803-D2A2227CD632}"/>
              </a:ext>
            </a:extLst>
          </p:cNvPr>
          <p:cNvSpPr>
            <a:spLocks noGrp="1"/>
          </p:cNvSpPr>
          <p:nvPr>
            <p:ph type="dt" sz="half" idx="10"/>
          </p:nvPr>
        </p:nvSpPr>
        <p:spPr/>
        <p:txBody>
          <a:bodyPr/>
          <a:lstStyle/>
          <a:p>
            <a:fld id="{DA9525E5-9276-4D18-8E86-96A1132D617B}" type="datetimeFigureOut">
              <a:rPr lang="vi-VN" smtClean="0"/>
              <a:t>24/07/2026</a:t>
            </a:fld>
            <a:endParaRPr lang="vi-VN"/>
          </a:p>
        </p:txBody>
      </p:sp>
      <p:sp>
        <p:nvSpPr>
          <p:cNvPr id="4" name="Footer Placeholder 3">
            <a:extLst>
              <a:ext uri="{FF2B5EF4-FFF2-40B4-BE49-F238E27FC236}">
                <a16:creationId xmlns:a16="http://schemas.microsoft.com/office/drawing/2014/main" id="{638509BB-250D-9DB9-C418-0E698F7419D5}"/>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9A921F65-9A79-5320-8972-30A40E23315D}"/>
              </a:ext>
            </a:extLst>
          </p:cNvPr>
          <p:cNvSpPr>
            <a:spLocks noGrp="1"/>
          </p:cNvSpPr>
          <p:nvPr>
            <p:ph type="sldNum" sz="quarter" idx="12"/>
          </p:nvPr>
        </p:nvSpPr>
        <p:spPr/>
        <p:txBody>
          <a:bodyPr/>
          <a:lstStyle/>
          <a:p>
            <a:fld id="{82FA9A0C-A242-46F3-A9E4-6F1ADE77486F}" type="slidenum">
              <a:rPr lang="vi-VN" smtClean="0"/>
              <a:t>‹#›</a:t>
            </a:fld>
            <a:endParaRPr lang="vi-VN"/>
          </a:p>
        </p:txBody>
      </p:sp>
    </p:spTree>
    <p:extLst>
      <p:ext uri="{BB962C8B-B14F-4D97-AF65-F5344CB8AC3E}">
        <p14:creationId xmlns:p14="http://schemas.microsoft.com/office/powerpoint/2010/main" val="3067803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537D69-30EE-F1AA-388E-F21ADD343CE5}"/>
              </a:ext>
            </a:extLst>
          </p:cNvPr>
          <p:cNvSpPr>
            <a:spLocks noGrp="1"/>
          </p:cNvSpPr>
          <p:nvPr>
            <p:ph type="dt" sz="half" idx="10"/>
          </p:nvPr>
        </p:nvSpPr>
        <p:spPr/>
        <p:txBody>
          <a:bodyPr/>
          <a:lstStyle/>
          <a:p>
            <a:fld id="{DA9525E5-9276-4D18-8E86-96A1132D617B}" type="datetimeFigureOut">
              <a:rPr lang="vi-VN" smtClean="0"/>
              <a:t>24/07/2026</a:t>
            </a:fld>
            <a:endParaRPr lang="vi-VN"/>
          </a:p>
        </p:txBody>
      </p:sp>
      <p:sp>
        <p:nvSpPr>
          <p:cNvPr id="3" name="Footer Placeholder 2">
            <a:extLst>
              <a:ext uri="{FF2B5EF4-FFF2-40B4-BE49-F238E27FC236}">
                <a16:creationId xmlns:a16="http://schemas.microsoft.com/office/drawing/2014/main" id="{2439DD47-D7BD-2ED3-76E9-50F3F746DDCD}"/>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38F5F099-1CF9-67CA-132B-B81F73CB4DC2}"/>
              </a:ext>
            </a:extLst>
          </p:cNvPr>
          <p:cNvSpPr>
            <a:spLocks noGrp="1"/>
          </p:cNvSpPr>
          <p:nvPr>
            <p:ph type="sldNum" sz="quarter" idx="12"/>
          </p:nvPr>
        </p:nvSpPr>
        <p:spPr/>
        <p:txBody>
          <a:bodyPr/>
          <a:lstStyle/>
          <a:p>
            <a:fld id="{82FA9A0C-A242-46F3-A9E4-6F1ADE77486F}" type="slidenum">
              <a:rPr lang="vi-VN" smtClean="0"/>
              <a:t>‹#›</a:t>
            </a:fld>
            <a:endParaRPr lang="vi-VN"/>
          </a:p>
        </p:txBody>
      </p:sp>
    </p:spTree>
    <p:extLst>
      <p:ext uri="{BB962C8B-B14F-4D97-AF65-F5344CB8AC3E}">
        <p14:creationId xmlns:p14="http://schemas.microsoft.com/office/powerpoint/2010/main" val="725574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30E18-6816-A060-C4CD-9D426709D7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EE096788-B022-CC4B-C4ED-CBA300D961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A448E134-247F-7C87-7EEA-B3446E4D0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D3EE7A-2676-5CCD-E763-549370560D74}"/>
              </a:ext>
            </a:extLst>
          </p:cNvPr>
          <p:cNvSpPr>
            <a:spLocks noGrp="1"/>
          </p:cNvSpPr>
          <p:nvPr>
            <p:ph type="dt" sz="half" idx="10"/>
          </p:nvPr>
        </p:nvSpPr>
        <p:spPr/>
        <p:txBody>
          <a:bodyPr/>
          <a:lstStyle/>
          <a:p>
            <a:fld id="{DA9525E5-9276-4D18-8E86-96A1132D617B}" type="datetimeFigureOut">
              <a:rPr lang="vi-VN" smtClean="0"/>
              <a:t>24/07/2026</a:t>
            </a:fld>
            <a:endParaRPr lang="vi-VN"/>
          </a:p>
        </p:txBody>
      </p:sp>
      <p:sp>
        <p:nvSpPr>
          <p:cNvPr id="6" name="Footer Placeholder 5">
            <a:extLst>
              <a:ext uri="{FF2B5EF4-FFF2-40B4-BE49-F238E27FC236}">
                <a16:creationId xmlns:a16="http://schemas.microsoft.com/office/drawing/2014/main" id="{61AD92ED-8250-F6A7-E788-F01BC18CD8AA}"/>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CC09A4AA-230E-4F21-F41F-DB2ECE7B8EDB}"/>
              </a:ext>
            </a:extLst>
          </p:cNvPr>
          <p:cNvSpPr>
            <a:spLocks noGrp="1"/>
          </p:cNvSpPr>
          <p:nvPr>
            <p:ph type="sldNum" sz="quarter" idx="12"/>
          </p:nvPr>
        </p:nvSpPr>
        <p:spPr/>
        <p:txBody>
          <a:bodyPr/>
          <a:lstStyle/>
          <a:p>
            <a:fld id="{82FA9A0C-A242-46F3-A9E4-6F1ADE77486F}" type="slidenum">
              <a:rPr lang="vi-VN" smtClean="0"/>
              <a:t>‹#›</a:t>
            </a:fld>
            <a:endParaRPr lang="vi-VN"/>
          </a:p>
        </p:txBody>
      </p:sp>
    </p:spTree>
    <p:extLst>
      <p:ext uri="{BB962C8B-B14F-4D97-AF65-F5344CB8AC3E}">
        <p14:creationId xmlns:p14="http://schemas.microsoft.com/office/powerpoint/2010/main" val="1682734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8DBF0-99E9-50CA-2E5D-F22DFBF138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3084DA39-C2EE-49AC-4AA8-C83060CF33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C44D4F2D-4728-AF0B-422D-CD5CC0CA43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362EC5-E845-9C7A-A981-8B27EAC145DB}"/>
              </a:ext>
            </a:extLst>
          </p:cNvPr>
          <p:cNvSpPr>
            <a:spLocks noGrp="1"/>
          </p:cNvSpPr>
          <p:nvPr>
            <p:ph type="dt" sz="half" idx="10"/>
          </p:nvPr>
        </p:nvSpPr>
        <p:spPr/>
        <p:txBody>
          <a:bodyPr/>
          <a:lstStyle/>
          <a:p>
            <a:fld id="{DA9525E5-9276-4D18-8E86-96A1132D617B}" type="datetimeFigureOut">
              <a:rPr lang="vi-VN" smtClean="0"/>
              <a:t>24/07/2026</a:t>
            </a:fld>
            <a:endParaRPr lang="vi-VN"/>
          </a:p>
        </p:txBody>
      </p:sp>
      <p:sp>
        <p:nvSpPr>
          <p:cNvPr id="6" name="Footer Placeholder 5">
            <a:extLst>
              <a:ext uri="{FF2B5EF4-FFF2-40B4-BE49-F238E27FC236}">
                <a16:creationId xmlns:a16="http://schemas.microsoft.com/office/drawing/2014/main" id="{B451B4F8-A239-3BDB-07C1-F2201D6EF0FF}"/>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3E3E01BD-5798-3026-4288-5743229D79C5}"/>
              </a:ext>
            </a:extLst>
          </p:cNvPr>
          <p:cNvSpPr>
            <a:spLocks noGrp="1"/>
          </p:cNvSpPr>
          <p:nvPr>
            <p:ph type="sldNum" sz="quarter" idx="12"/>
          </p:nvPr>
        </p:nvSpPr>
        <p:spPr/>
        <p:txBody>
          <a:bodyPr/>
          <a:lstStyle/>
          <a:p>
            <a:fld id="{82FA9A0C-A242-46F3-A9E4-6F1ADE77486F}" type="slidenum">
              <a:rPr lang="vi-VN" smtClean="0"/>
              <a:t>‹#›</a:t>
            </a:fld>
            <a:endParaRPr lang="vi-VN"/>
          </a:p>
        </p:txBody>
      </p:sp>
    </p:spTree>
    <p:extLst>
      <p:ext uri="{BB962C8B-B14F-4D97-AF65-F5344CB8AC3E}">
        <p14:creationId xmlns:p14="http://schemas.microsoft.com/office/powerpoint/2010/main" val="834414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11B5E-125E-F28F-F12A-4213962545C5}"/>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E3ADC32A-0EF7-4444-CC31-8F570C3395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159FC261-7B4F-28AC-D41F-BBA2A3FEEE14}"/>
              </a:ext>
            </a:extLst>
          </p:cNvPr>
          <p:cNvSpPr>
            <a:spLocks noGrp="1"/>
          </p:cNvSpPr>
          <p:nvPr>
            <p:ph type="dt" sz="half" idx="10"/>
          </p:nvPr>
        </p:nvSpPr>
        <p:spPr/>
        <p:txBody>
          <a:bodyPr/>
          <a:lstStyle/>
          <a:p>
            <a:fld id="{DA9525E5-9276-4D18-8E86-96A1132D617B}" type="datetimeFigureOut">
              <a:rPr lang="vi-VN" smtClean="0"/>
              <a:t>24/07/2026</a:t>
            </a:fld>
            <a:endParaRPr lang="vi-VN"/>
          </a:p>
        </p:txBody>
      </p:sp>
      <p:sp>
        <p:nvSpPr>
          <p:cNvPr id="5" name="Footer Placeholder 4">
            <a:extLst>
              <a:ext uri="{FF2B5EF4-FFF2-40B4-BE49-F238E27FC236}">
                <a16:creationId xmlns:a16="http://schemas.microsoft.com/office/drawing/2014/main" id="{5EDDC14B-D8CC-457E-7DCE-B49F366933F0}"/>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CEDE11A-E558-4249-4857-1F28E699966C}"/>
              </a:ext>
            </a:extLst>
          </p:cNvPr>
          <p:cNvSpPr>
            <a:spLocks noGrp="1"/>
          </p:cNvSpPr>
          <p:nvPr>
            <p:ph type="sldNum" sz="quarter" idx="12"/>
          </p:nvPr>
        </p:nvSpPr>
        <p:spPr/>
        <p:txBody>
          <a:bodyPr/>
          <a:lstStyle/>
          <a:p>
            <a:fld id="{82FA9A0C-A242-46F3-A9E4-6F1ADE77486F}" type="slidenum">
              <a:rPr lang="vi-VN" smtClean="0"/>
              <a:t>‹#›</a:t>
            </a:fld>
            <a:endParaRPr lang="vi-VN"/>
          </a:p>
        </p:txBody>
      </p:sp>
    </p:spTree>
    <p:extLst>
      <p:ext uri="{BB962C8B-B14F-4D97-AF65-F5344CB8AC3E}">
        <p14:creationId xmlns:p14="http://schemas.microsoft.com/office/powerpoint/2010/main" val="3884002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BB0C5F-010D-6447-01BB-36B8B500B2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2F529AA3-67B5-8983-D0CC-88E2301AD8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5C24C9A0-4B2F-B97C-5055-C7A1055A75BF}"/>
              </a:ext>
            </a:extLst>
          </p:cNvPr>
          <p:cNvSpPr>
            <a:spLocks noGrp="1"/>
          </p:cNvSpPr>
          <p:nvPr>
            <p:ph type="dt" sz="half" idx="10"/>
          </p:nvPr>
        </p:nvSpPr>
        <p:spPr/>
        <p:txBody>
          <a:bodyPr/>
          <a:lstStyle/>
          <a:p>
            <a:fld id="{DA9525E5-9276-4D18-8E86-96A1132D617B}" type="datetimeFigureOut">
              <a:rPr lang="vi-VN" smtClean="0"/>
              <a:t>24/07/2026</a:t>
            </a:fld>
            <a:endParaRPr lang="vi-VN"/>
          </a:p>
        </p:txBody>
      </p:sp>
      <p:sp>
        <p:nvSpPr>
          <p:cNvPr id="5" name="Footer Placeholder 4">
            <a:extLst>
              <a:ext uri="{FF2B5EF4-FFF2-40B4-BE49-F238E27FC236}">
                <a16:creationId xmlns:a16="http://schemas.microsoft.com/office/drawing/2014/main" id="{77CD1DE5-4676-B36C-26DD-D2B48DE0F4F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0E3AE8B-124F-0224-0B98-1CD9E8026CF9}"/>
              </a:ext>
            </a:extLst>
          </p:cNvPr>
          <p:cNvSpPr>
            <a:spLocks noGrp="1"/>
          </p:cNvSpPr>
          <p:nvPr>
            <p:ph type="sldNum" sz="quarter" idx="12"/>
          </p:nvPr>
        </p:nvSpPr>
        <p:spPr/>
        <p:txBody>
          <a:bodyPr/>
          <a:lstStyle/>
          <a:p>
            <a:fld id="{82FA9A0C-A242-46F3-A9E4-6F1ADE77486F}" type="slidenum">
              <a:rPr lang="vi-VN" smtClean="0"/>
              <a:t>‹#›</a:t>
            </a:fld>
            <a:endParaRPr lang="vi-VN"/>
          </a:p>
        </p:txBody>
      </p:sp>
    </p:spTree>
    <p:extLst>
      <p:ext uri="{BB962C8B-B14F-4D97-AF65-F5344CB8AC3E}">
        <p14:creationId xmlns:p14="http://schemas.microsoft.com/office/powerpoint/2010/main" val="2509330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ACDF0A-5F49-5943-F143-5B9544A2A4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191CB8EE-A382-2AF0-1536-3A8CF63D4A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1179AD4-3AFB-6A25-FBF2-0F2F7742A2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9525E5-9276-4D18-8E86-96A1132D617B}" type="datetimeFigureOut">
              <a:rPr lang="vi-VN" smtClean="0"/>
              <a:t>24/07/2026</a:t>
            </a:fld>
            <a:endParaRPr lang="vi-VN"/>
          </a:p>
        </p:txBody>
      </p:sp>
      <p:sp>
        <p:nvSpPr>
          <p:cNvPr id="5" name="Footer Placeholder 4">
            <a:extLst>
              <a:ext uri="{FF2B5EF4-FFF2-40B4-BE49-F238E27FC236}">
                <a16:creationId xmlns:a16="http://schemas.microsoft.com/office/drawing/2014/main" id="{66F04824-E411-FCC6-6FA2-8998F62F19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085D8C54-9274-3BA1-F575-1B1ED8C9F1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FA9A0C-A242-46F3-A9E4-6F1ADE77486F}" type="slidenum">
              <a:rPr lang="vi-VN" smtClean="0"/>
              <a:t>‹#›</a:t>
            </a:fld>
            <a:endParaRPr lang="vi-VN"/>
          </a:p>
        </p:txBody>
      </p:sp>
    </p:spTree>
    <p:extLst>
      <p:ext uri="{BB962C8B-B14F-4D97-AF65-F5344CB8AC3E}">
        <p14:creationId xmlns:p14="http://schemas.microsoft.com/office/powerpoint/2010/main" val="2726074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4B86B-501A-F7D8-9659-80436570CFF5}"/>
              </a:ext>
            </a:extLst>
          </p:cNvPr>
          <p:cNvSpPr>
            <a:spLocks noGrp="1"/>
          </p:cNvSpPr>
          <p:nvPr>
            <p:ph type="ctrTitle"/>
          </p:nvPr>
        </p:nvSpPr>
        <p:spPr/>
        <p:txBody>
          <a:bodyPr/>
          <a:lstStyle/>
          <a:p>
            <a:r>
              <a:rPr lang="vi-VN" b="1">
                <a:latin typeface="Calibri" panose="020F0502020204030204" pitchFamily="34" charset="0"/>
                <a:ea typeface="Calibri" panose="020F0502020204030204" pitchFamily="34" charset="0"/>
                <a:cs typeface="Calibri" panose="020F0502020204030204" pitchFamily="34" charset="0"/>
              </a:rPr>
              <a:t>MotionPhotoUtil</a:t>
            </a:r>
          </a:p>
        </p:txBody>
      </p:sp>
      <p:sp>
        <p:nvSpPr>
          <p:cNvPr id="3" name="Subtitle 2">
            <a:extLst>
              <a:ext uri="{FF2B5EF4-FFF2-40B4-BE49-F238E27FC236}">
                <a16:creationId xmlns:a16="http://schemas.microsoft.com/office/drawing/2014/main" id="{45E4C896-2341-6B75-8CCA-1245A5DF6D94}"/>
              </a:ext>
            </a:extLst>
          </p:cNvPr>
          <p:cNvSpPr>
            <a:spLocks noGrp="1"/>
          </p:cNvSpPr>
          <p:nvPr>
            <p:ph type="subTitle" idx="1"/>
          </p:nvPr>
        </p:nvSpPr>
        <p:spPr/>
        <p:txBody>
          <a:bodyPr/>
          <a:lstStyle/>
          <a:p>
            <a:r>
              <a:rPr lang="vi-VN">
                <a:latin typeface="Calibri" panose="020F0502020204030204" pitchFamily="34" charset="0"/>
                <a:ea typeface="Calibri" panose="020F0502020204030204" pitchFamily="34" charset="0"/>
                <a:cs typeface="Calibri" panose="020F0502020204030204" pitchFamily="34" charset="0"/>
              </a:rPr>
              <a:t>Created by huong.hoang</a:t>
            </a:r>
            <a:r>
              <a:rPr lang="en-US">
                <a:latin typeface="Calibri" panose="020F0502020204030204" pitchFamily="34" charset="0"/>
                <a:ea typeface="Calibri" panose="020F0502020204030204" pitchFamily="34" charset="0"/>
                <a:cs typeface="Calibri" panose="020F0502020204030204" pitchFamily="34" charset="0"/>
              </a:rPr>
              <a:t>1</a:t>
            </a:r>
            <a:endParaRPr lang="vi-VN">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7918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68DC9-65B5-E2E6-6034-A670145F6DDD}"/>
              </a:ext>
            </a:extLst>
          </p:cNvPr>
          <p:cNvSpPr>
            <a:spLocks noGrp="1"/>
          </p:cNvSpPr>
          <p:nvPr>
            <p:ph type="title"/>
          </p:nvPr>
        </p:nvSpPr>
        <p:spPr/>
        <p:txBody>
          <a:bodyPr/>
          <a:lstStyle/>
          <a:p>
            <a:r>
              <a:rPr lang="vi-VN" b="1">
                <a:latin typeface="Calibri" panose="020F0502020204030204" pitchFamily="34" charset="0"/>
                <a:ea typeface="Calibri" panose="020F0502020204030204" pitchFamily="34" charset="0"/>
                <a:cs typeface="Calibri" panose="020F0502020204030204" pitchFamily="34" charset="0"/>
              </a:rPr>
              <a:t>Overview</a:t>
            </a:r>
          </a:p>
        </p:txBody>
      </p:sp>
      <p:sp>
        <p:nvSpPr>
          <p:cNvPr id="3" name="Content Placeholder 2">
            <a:extLst>
              <a:ext uri="{FF2B5EF4-FFF2-40B4-BE49-F238E27FC236}">
                <a16:creationId xmlns:a16="http://schemas.microsoft.com/office/drawing/2014/main" id="{F178E77A-3BC1-7B56-714A-9E4159B01C86}"/>
              </a:ext>
            </a:extLst>
          </p:cNvPr>
          <p:cNvSpPr>
            <a:spLocks noGrp="1"/>
          </p:cNvSpPr>
          <p:nvPr>
            <p:ph idx="1"/>
          </p:nvPr>
        </p:nvSpPr>
        <p:spPr>
          <a:xfrm>
            <a:off x="838200" y="1825625"/>
            <a:ext cx="10515600" cy="2758567"/>
          </a:xfrm>
        </p:spPr>
        <p:txBody>
          <a:bodyPr>
            <a:normAutofit/>
          </a:bodyPr>
          <a:lstStyle/>
          <a:p>
            <a:r>
              <a:rPr lang="vi-VN" sz="2400">
                <a:latin typeface="Calibri" panose="020F0502020204030204" pitchFamily="34" charset="0"/>
                <a:ea typeface="Calibri" panose="020F0502020204030204" pitchFamily="34" charset="0"/>
                <a:cs typeface="Calibri" panose="020F0502020204030204" pitchFamily="34" charset="0"/>
              </a:rPr>
              <a:t>Introduction</a:t>
            </a:r>
          </a:p>
          <a:p>
            <a:r>
              <a:rPr lang="vi-VN" sz="2400">
                <a:latin typeface="Calibri" panose="020F0502020204030204" pitchFamily="34" charset="0"/>
                <a:ea typeface="Calibri" panose="020F0502020204030204" pitchFamily="34" charset="0"/>
                <a:cs typeface="Calibri" panose="020F0502020204030204" pitchFamily="34" charset="0"/>
              </a:rPr>
              <a:t>Core Capabilities</a:t>
            </a:r>
          </a:p>
          <a:p>
            <a:r>
              <a:rPr lang="vi-VN" sz="2400">
                <a:latin typeface="Calibri" panose="020F0502020204030204" pitchFamily="34" charset="0"/>
                <a:ea typeface="Calibri" panose="020F0502020204030204" pitchFamily="34" charset="0"/>
                <a:cs typeface="Calibri" panose="020F0502020204030204" pitchFamily="34" charset="0"/>
              </a:rPr>
              <a:t>Architecture</a:t>
            </a:r>
          </a:p>
          <a:p>
            <a:r>
              <a:rPr lang="vi-VN" sz="2400">
                <a:latin typeface="Calibri" panose="020F0502020204030204" pitchFamily="34" charset="0"/>
                <a:ea typeface="Calibri" panose="020F0502020204030204" pitchFamily="34" charset="0"/>
                <a:cs typeface="Calibri" panose="020F0502020204030204" pitchFamily="34" charset="0"/>
              </a:rPr>
              <a:t>Processing </a:t>
            </a:r>
          </a:p>
          <a:p>
            <a:r>
              <a:rPr lang="vi-VN" sz="2400">
                <a:latin typeface="Calibri" panose="020F0502020204030204" pitchFamily="34" charset="0"/>
                <a:ea typeface="Calibri" panose="020F0502020204030204" pitchFamily="34" charset="0"/>
                <a:cs typeface="Calibri" panose="020F0502020204030204" pitchFamily="34" charset="0"/>
              </a:rPr>
              <a:t>PipelineFramework </a:t>
            </a:r>
          </a:p>
          <a:p>
            <a:r>
              <a:rPr lang="vi-VN" sz="2400">
                <a:latin typeface="Calibri" panose="020F0502020204030204" pitchFamily="34" charset="0"/>
                <a:ea typeface="Calibri" panose="020F0502020204030204" pitchFamily="34" charset="0"/>
                <a:cs typeface="Calibri" panose="020F0502020204030204" pitchFamily="34" charset="0"/>
              </a:rPr>
              <a:t>Features</a:t>
            </a:r>
          </a:p>
        </p:txBody>
      </p:sp>
    </p:spTree>
    <p:extLst>
      <p:ext uri="{BB962C8B-B14F-4D97-AF65-F5344CB8AC3E}">
        <p14:creationId xmlns:p14="http://schemas.microsoft.com/office/powerpoint/2010/main" val="4114464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AA50C-9D63-FEFA-5CDB-7D9FA3817B65}"/>
              </a:ext>
            </a:extLst>
          </p:cNvPr>
          <p:cNvSpPr>
            <a:spLocks noGrp="1"/>
          </p:cNvSpPr>
          <p:nvPr>
            <p:ph type="title"/>
          </p:nvPr>
        </p:nvSpPr>
        <p:spPr/>
        <p:txBody>
          <a:bodyPr/>
          <a:lstStyle/>
          <a:p>
            <a:r>
              <a:rPr lang="vi-VN" b="1">
                <a:latin typeface="Calibri" panose="020F0502020204030204" pitchFamily="34" charset="0"/>
                <a:ea typeface="Calibri" panose="020F0502020204030204" pitchFamily="34" charset="0"/>
                <a:cs typeface="Calibri" panose="020F0502020204030204" pitchFamily="34" charset="0"/>
              </a:rPr>
              <a:t>MotionPhotoUtil Media Framework</a:t>
            </a:r>
          </a:p>
        </p:txBody>
      </p:sp>
      <p:sp>
        <p:nvSpPr>
          <p:cNvPr id="3" name="Content Placeholder 2">
            <a:extLst>
              <a:ext uri="{FF2B5EF4-FFF2-40B4-BE49-F238E27FC236}">
                <a16:creationId xmlns:a16="http://schemas.microsoft.com/office/drawing/2014/main" id="{2E06FFE8-0144-E2CC-276C-8188A329736E}"/>
              </a:ext>
            </a:extLst>
          </p:cNvPr>
          <p:cNvSpPr>
            <a:spLocks noGrp="1"/>
          </p:cNvSpPr>
          <p:nvPr>
            <p:ph idx="1"/>
          </p:nvPr>
        </p:nvSpPr>
        <p:spPr>
          <a:xfrm>
            <a:off x="838200" y="1593976"/>
            <a:ext cx="10515600" cy="4733672"/>
          </a:xfrm>
        </p:spPr>
        <p:txBody>
          <a:bodyPr>
            <a:noAutofit/>
          </a:bodyPr>
          <a:lstStyle/>
          <a:p>
            <a:pPr marL="0" indent="0">
              <a:buNone/>
            </a:pPr>
            <a:r>
              <a:rPr lang="vi-VN" sz="2000">
                <a:latin typeface="Calibri" panose="020F0502020204030204" pitchFamily="34" charset="0"/>
                <a:ea typeface="Calibri" panose="020F0502020204030204" pitchFamily="34" charset="0"/>
                <a:cs typeface="Calibri" panose="020F0502020204030204" pitchFamily="34" charset="0"/>
              </a:rPr>
              <a:t>One framework for media metadata and Motion Photo processing.</a:t>
            </a:r>
          </a:p>
          <a:p>
            <a:pPr marL="0" indent="0">
              <a:buNone/>
            </a:pPr>
            <a:br>
              <a:rPr lang="vi-VN" sz="2000">
                <a:latin typeface="Calibri" panose="020F0502020204030204" pitchFamily="34" charset="0"/>
                <a:ea typeface="Calibri" panose="020F0502020204030204" pitchFamily="34" charset="0"/>
                <a:cs typeface="Calibri" panose="020F0502020204030204" pitchFamily="34" charset="0"/>
              </a:rPr>
            </a:br>
            <a:endParaRPr lang="vi-VN" sz="2000">
              <a:latin typeface="Calibri" panose="020F0502020204030204" pitchFamily="34" charset="0"/>
              <a:ea typeface="Calibri" panose="020F0502020204030204" pitchFamily="34" charset="0"/>
              <a:cs typeface="Calibri" panose="020F0502020204030204" pitchFamily="34" charset="0"/>
            </a:endParaRPr>
          </a:p>
          <a:p>
            <a:pPr>
              <a:buNone/>
            </a:pPr>
            <a:r>
              <a:rPr lang="vi-VN" sz="2000" b="1">
                <a:latin typeface="Calibri" panose="020F0502020204030204" pitchFamily="34" charset="0"/>
                <a:ea typeface="Calibri" panose="020F0502020204030204" pitchFamily="34" charset="0"/>
                <a:cs typeface="Calibri" panose="020F0502020204030204" pitchFamily="34" charset="0"/>
              </a:rPr>
              <a:t>Applications</a:t>
            </a:r>
          </a:p>
          <a:p>
            <a:pPr>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Gallery </a:t>
            </a:r>
          </a:p>
          <a:p>
            <a:pPr>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Camera </a:t>
            </a:r>
          </a:p>
          <a:p>
            <a:pPr>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Photo Editor </a:t>
            </a:r>
          </a:p>
          <a:p>
            <a:pPr>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Cloud Gallery</a:t>
            </a:r>
          </a:p>
          <a:p>
            <a:pPr marL="0" indent="0">
              <a:buNone/>
            </a:pPr>
            <a:endParaRPr lang="vi-VN" sz="200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E0B6953A-094E-0A6D-46B7-B3E4B640764C}"/>
              </a:ext>
            </a:extLst>
          </p:cNvPr>
          <p:cNvPicPr>
            <a:picLocks noChangeAspect="1"/>
          </p:cNvPicPr>
          <p:nvPr/>
        </p:nvPicPr>
        <p:blipFill>
          <a:blip r:embed="rId2"/>
          <a:stretch>
            <a:fillRect/>
          </a:stretch>
        </p:blipFill>
        <p:spPr>
          <a:xfrm>
            <a:off x="5569304" y="2273961"/>
            <a:ext cx="5079406" cy="3941712"/>
          </a:xfrm>
          <a:prstGeom prst="rect">
            <a:avLst/>
          </a:prstGeom>
        </p:spPr>
      </p:pic>
    </p:spTree>
    <p:extLst>
      <p:ext uri="{BB962C8B-B14F-4D97-AF65-F5344CB8AC3E}">
        <p14:creationId xmlns:p14="http://schemas.microsoft.com/office/powerpoint/2010/main" val="3122578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A78E8-4639-5FBE-930B-2290265BCEC5}"/>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Why MPUtil?</a:t>
            </a:r>
          </a:p>
        </p:txBody>
      </p:sp>
      <p:sp>
        <p:nvSpPr>
          <p:cNvPr id="3" name="Content Placeholder 2">
            <a:extLst>
              <a:ext uri="{FF2B5EF4-FFF2-40B4-BE49-F238E27FC236}">
                <a16:creationId xmlns:a16="http://schemas.microsoft.com/office/drawing/2014/main" id="{05FACDD4-57C6-99E6-E238-66B8F624132B}"/>
              </a:ext>
            </a:extLst>
          </p:cNvPr>
          <p:cNvSpPr>
            <a:spLocks noGrp="1"/>
          </p:cNvSpPr>
          <p:nvPr>
            <p:ph idx="1"/>
          </p:nvPr>
        </p:nvSpPr>
        <p:spPr>
          <a:xfrm>
            <a:off x="6670499" y="3293859"/>
            <a:ext cx="4562856" cy="2216687"/>
          </a:xfrm>
        </p:spPr>
        <p:txBody>
          <a:bodyPr>
            <a:normAutofit/>
          </a:bodyPr>
          <a:lstStyle/>
          <a:p>
            <a:pPr>
              <a:buNone/>
            </a:pPr>
            <a:r>
              <a:rPr lang="vi-VN" sz="2000" b="1">
                <a:latin typeface="Calibri" panose="020F0502020204030204" pitchFamily="34" charset="0"/>
                <a:ea typeface="Calibri" panose="020F0502020204030204" pitchFamily="34" charset="0"/>
                <a:cs typeface="Calibri" panose="020F0502020204030204" pitchFamily="34" charset="0"/>
              </a:rPr>
              <a:t>Challenges</a:t>
            </a:r>
          </a:p>
          <a:p>
            <a:pPr>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Multiple file formats </a:t>
            </a:r>
          </a:p>
          <a:p>
            <a:pPr>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Different metadata structures </a:t>
            </a:r>
          </a:p>
          <a:p>
            <a:pPr>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Shared logic across applications </a:t>
            </a:r>
          </a:p>
          <a:p>
            <a:pPr>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Easy extensibility</a:t>
            </a:r>
          </a:p>
        </p:txBody>
      </p:sp>
      <p:grpSp>
        <p:nvGrpSpPr>
          <p:cNvPr id="16" name="Group 15">
            <a:extLst>
              <a:ext uri="{FF2B5EF4-FFF2-40B4-BE49-F238E27FC236}">
                <a16:creationId xmlns:a16="http://schemas.microsoft.com/office/drawing/2014/main" id="{41CB4678-336F-A520-565F-5D473C2F765C}"/>
              </a:ext>
            </a:extLst>
          </p:cNvPr>
          <p:cNvGrpSpPr/>
          <p:nvPr/>
        </p:nvGrpSpPr>
        <p:grpSpPr>
          <a:xfrm>
            <a:off x="1489661" y="2154221"/>
            <a:ext cx="3608070" cy="3274981"/>
            <a:chOff x="6975397" y="1575025"/>
            <a:chExt cx="3608070" cy="3274981"/>
          </a:xfrm>
        </p:grpSpPr>
        <p:sp>
          <p:nvSpPr>
            <p:cNvPr id="6" name="TextBox 5">
              <a:extLst>
                <a:ext uri="{FF2B5EF4-FFF2-40B4-BE49-F238E27FC236}">
                  <a16:creationId xmlns:a16="http://schemas.microsoft.com/office/drawing/2014/main" id="{EDDF4B7C-514B-9B9E-963A-DE75D4005CDA}"/>
                </a:ext>
              </a:extLst>
            </p:cNvPr>
            <p:cNvSpPr txBox="1"/>
            <p:nvPr/>
          </p:nvSpPr>
          <p:spPr>
            <a:xfrm>
              <a:off x="7206664" y="1575025"/>
              <a:ext cx="3145536" cy="967957"/>
            </a:xfrm>
            <a:prstGeom prst="rect">
              <a:avLst/>
            </a:prstGeom>
            <a:solidFill>
              <a:schemeClr val="accent4">
                <a:lumMod val="20000"/>
                <a:lumOff val="80000"/>
              </a:schemeClr>
            </a:solidFill>
          </p:spPr>
          <p:txBody>
            <a:bodyPr wrap="square" rtlCol="0">
              <a:spAutoFit/>
            </a:bodyPr>
            <a:lstStyle/>
            <a:p>
              <a:pPr algn="ctr">
                <a:lnSpc>
                  <a:spcPct val="150000"/>
                </a:lnSpc>
              </a:pPr>
              <a:r>
                <a:rPr lang="vi-VN" sz="2000">
                  <a:latin typeface="Calibri" panose="020F0502020204030204" pitchFamily="34" charset="0"/>
                  <a:ea typeface="Calibri" panose="020F0502020204030204" pitchFamily="34" charset="0"/>
                  <a:cs typeface="Calibri" panose="020F0502020204030204" pitchFamily="34" charset="0"/>
                </a:rPr>
                <a:t>JPEG/HEIF/..</a:t>
              </a:r>
            </a:p>
            <a:p>
              <a:pPr algn="ctr">
                <a:lnSpc>
                  <a:spcPct val="150000"/>
                </a:lnSpc>
              </a:pPr>
              <a:r>
                <a:rPr lang="vi-VN" sz="2000">
                  <a:latin typeface="Calibri" panose="020F0502020204030204" pitchFamily="34" charset="0"/>
                  <a:ea typeface="Calibri" panose="020F0502020204030204" pitchFamily="34" charset="0"/>
                  <a:cs typeface="Calibri" panose="020F0502020204030204" pitchFamily="34" charset="0"/>
                </a:rPr>
                <a:t>Motion Photo/MicroVideo</a:t>
              </a:r>
            </a:p>
          </p:txBody>
        </p:sp>
        <p:sp>
          <p:nvSpPr>
            <p:cNvPr id="15" name="TextBox 14">
              <a:extLst>
                <a:ext uri="{FF2B5EF4-FFF2-40B4-BE49-F238E27FC236}">
                  <a16:creationId xmlns:a16="http://schemas.microsoft.com/office/drawing/2014/main" id="{E9EAF405-10D6-5795-2705-4EAC0DA1EE55}"/>
                </a:ext>
              </a:extLst>
            </p:cNvPr>
            <p:cNvSpPr txBox="1"/>
            <p:nvPr/>
          </p:nvSpPr>
          <p:spPr>
            <a:xfrm>
              <a:off x="7206664" y="3296384"/>
              <a:ext cx="3145536" cy="400110"/>
            </a:xfrm>
            <a:prstGeom prst="rect">
              <a:avLst/>
            </a:prstGeom>
            <a:solidFill>
              <a:schemeClr val="accent4">
                <a:lumMod val="20000"/>
                <a:lumOff val="80000"/>
              </a:schemeClr>
            </a:solidFill>
            <a:ln>
              <a:noFill/>
            </a:ln>
          </p:spPr>
          <p:txBody>
            <a:bodyPr wrap="square">
              <a:spAutoFit/>
            </a:bodyPr>
            <a:lstStyle/>
            <a:p>
              <a:pPr algn="ctr"/>
              <a:r>
                <a:rPr lang="vi-VN" sz="2000">
                  <a:latin typeface="Calibri" panose="020F0502020204030204" pitchFamily="34" charset="0"/>
                  <a:ea typeface="Calibri" panose="020F0502020204030204" pitchFamily="34" charset="0"/>
                  <a:cs typeface="Calibri" panose="020F0502020204030204" pitchFamily="34" charset="0"/>
                </a:rPr>
                <a:t>Different metadata formats</a:t>
              </a:r>
            </a:p>
          </p:txBody>
        </p:sp>
        <p:sp>
          <p:nvSpPr>
            <p:cNvPr id="17" name="TextBox 16">
              <a:extLst>
                <a:ext uri="{FF2B5EF4-FFF2-40B4-BE49-F238E27FC236}">
                  <a16:creationId xmlns:a16="http://schemas.microsoft.com/office/drawing/2014/main" id="{70F6F352-5976-9116-845C-68DB9EFFA533}"/>
                </a:ext>
              </a:extLst>
            </p:cNvPr>
            <p:cNvSpPr txBox="1"/>
            <p:nvPr/>
          </p:nvSpPr>
          <p:spPr>
            <a:xfrm>
              <a:off x="6975397" y="4449896"/>
              <a:ext cx="3608070" cy="400110"/>
            </a:xfrm>
            <a:prstGeom prst="rect">
              <a:avLst/>
            </a:prstGeom>
            <a:solidFill>
              <a:schemeClr val="accent4">
                <a:lumMod val="20000"/>
                <a:lumOff val="80000"/>
              </a:schemeClr>
            </a:solidFill>
            <a:ln>
              <a:noFill/>
            </a:ln>
          </p:spPr>
          <p:txBody>
            <a:bodyPr wrap="square">
              <a:spAutoFit/>
            </a:bodyPr>
            <a:lstStyle/>
            <a:p>
              <a:pPr algn="ctr"/>
              <a:r>
                <a:rPr lang="vi-VN" sz="2000">
                  <a:latin typeface="Calibri" panose="020F0502020204030204" pitchFamily="34" charset="0"/>
                  <a:ea typeface="Calibri" panose="020F0502020204030204" pitchFamily="34" charset="0"/>
                  <a:cs typeface="Calibri" panose="020F0502020204030204" pitchFamily="34" charset="0"/>
                </a:rPr>
                <a:t>Need one unified framework</a:t>
              </a:r>
            </a:p>
          </p:txBody>
        </p:sp>
        <p:cxnSp>
          <p:nvCxnSpPr>
            <p:cNvPr id="7" name="Straight Arrow Connector 6">
              <a:extLst>
                <a:ext uri="{FF2B5EF4-FFF2-40B4-BE49-F238E27FC236}">
                  <a16:creationId xmlns:a16="http://schemas.microsoft.com/office/drawing/2014/main" id="{FDD75283-4829-05A0-C918-41FF4C48B235}"/>
                </a:ext>
              </a:extLst>
            </p:cNvPr>
            <p:cNvCxnSpPr>
              <a:cxnSpLocks/>
              <a:stCxn id="6" idx="2"/>
              <a:endCxn id="15" idx="0"/>
            </p:cNvCxnSpPr>
            <p:nvPr/>
          </p:nvCxnSpPr>
          <p:spPr>
            <a:xfrm>
              <a:off x="8779432" y="2542982"/>
              <a:ext cx="0" cy="75340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0D1050E-EC60-B366-2B49-FE30BB21101E}"/>
                </a:ext>
              </a:extLst>
            </p:cNvPr>
            <p:cNvCxnSpPr>
              <a:cxnSpLocks/>
              <a:stCxn id="15" idx="2"/>
              <a:endCxn id="17" idx="0"/>
            </p:cNvCxnSpPr>
            <p:nvPr/>
          </p:nvCxnSpPr>
          <p:spPr>
            <a:xfrm>
              <a:off x="8779432" y="3696494"/>
              <a:ext cx="0" cy="75340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12499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8B6BB-16F2-696A-F3DA-A3A7D36098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54A54-078E-442B-732B-4C4E506B4104}"/>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What Can MPUtil Do?</a:t>
            </a:r>
          </a:p>
        </p:txBody>
      </p:sp>
      <p:sp>
        <p:nvSpPr>
          <p:cNvPr id="3" name="Content Placeholder 2">
            <a:extLst>
              <a:ext uri="{FF2B5EF4-FFF2-40B4-BE49-F238E27FC236}">
                <a16:creationId xmlns:a16="http://schemas.microsoft.com/office/drawing/2014/main" id="{D1D25882-4A9B-1163-DDA8-FFF15AD0B661}"/>
              </a:ext>
            </a:extLst>
          </p:cNvPr>
          <p:cNvSpPr>
            <a:spLocks noGrp="1"/>
          </p:cNvSpPr>
          <p:nvPr>
            <p:ph idx="1"/>
          </p:nvPr>
        </p:nvSpPr>
        <p:spPr>
          <a:xfrm>
            <a:off x="869417" y="6049807"/>
            <a:ext cx="7217741" cy="434894"/>
          </a:xfrm>
        </p:spPr>
        <p:txBody>
          <a:bodyPr>
            <a:normAutofit/>
          </a:bodyPr>
          <a:lstStyle/>
          <a:p>
            <a:pPr marL="0" indent="0">
              <a:buNone/>
            </a:pPr>
            <a:r>
              <a:rPr lang="vi-VN" sz="2000">
                <a:latin typeface="Calibri" panose="020F0502020204030204" pitchFamily="34" charset="0"/>
                <a:ea typeface="Calibri" panose="020F0502020204030204" pitchFamily="34" charset="0"/>
                <a:cs typeface="Calibri" panose="020F0502020204030204" pitchFamily="34" charset="0"/>
              </a:rPr>
              <a:t>MPUtil is more than a metadata library.</a:t>
            </a:r>
          </a:p>
        </p:txBody>
      </p:sp>
      <p:sp>
        <p:nvSpPr>
          <p:cNvPr id="9" name="TextBox 8">
            <a:extLst>
              <a:ext uri="{FF2B5EF4-FFF2-40B4-BE49-F238E27FC236}">
                <a16:creationId xmlns:a16="http://schemas.microsoft.com/office/drawing/2014/main" id="{DE12F821-5FC6-C525-3DE1-3BF735F0D104}"/>
              </a:ext>
            </a:extLst>
          </p:cNvPr>
          <p:cNvSpPr txBox="1"/>
          <p:nvPr/>
        </p:nvSpPr>
        <p:spPr>
          <a:xfrm>
            <a:off x="1231392" y="1820000"/>
            <a:ext cx="2133600" cy="1015663"/>
          </a:xfrm>
          <a:prstGeom prst="rect">
            <a:avLst/>
          </a:prstGeom>
          <a:noFill/>
        </p:spPr>
        <p:txBody>
          <a:bodyPr wrap="square" rtlCol="0">
            <a:spAutoFit/>
          </a:bodyPr>
          <a:lstStyle/>
          <a:p>
            <a:r>
              <a:rPr lang="vi-VN" sz="2000" b="1">
                <a:latin typeface="Calibri" panose="020F0502020204030204" pitchFamily="34" charset="0"/>
                <a:ea typeface="Calibri" panose="020F0502020204030204" pitchFamily="34" charset="0"/>
                <a:cs typeface="Calibri" panose="020F0502020204030204" pitchFamily="34" charset="0"/>
              </a:rPr>
              <a:t>Metadata</a:t>
            </a:r>
          </a:p>
          <a:p>
            <a:pPr marL="742950" lvl="1" indent="-285750">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Read</a:t>
            </a:r>
          </a:p>
          <a:p>
            <a:pPr marL="742950" lvl="1" indent="-285750">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Edit</a:t>
            </a:r>
          </a:p>
        </p:txBody>
      </p:sp>
      <p:sp>
        <p:nvSpPr>
          <p:cNvPr id="14" name="TextBox 13">
            <a:extLst>
              <a:ext uri="{FF2B5EF4-FFF2-40B4-BE49-F238E27FC236}">
                <a16:creationId xmlns:a16="http://schemas.microsoft.com/office/drawing/2014/main" id="{B846BF88-46C0-C20F-E267-A0F5C27FDE29}"/>
              </a:ext>
            </a:extLst>
          </p:cNvPr>
          <p:cNvSpPr txBox="1"/>
          <p:nvPr/>
        </p:nvSpPr>
        <p:spPr>
          <a:xfrm>
            <a:off x="3962400" y="1820000"/>
            <a:ext cx="2365248" cy="1631216"/>
          </a:xfrm>
          <a:prstGeom prst="rect">
            <a:avLst/>
          </a:prstGeom>
          <a:noFill/>
        </p:spPr>
        <p:txBody>
          <a:bodyPr wrap="square" rtlCol="0">
            <a:spAutoFit/>
          </a:bodyPr>
          <a:lstStyle/>
          <a:p>
            <a:r>
              <a:rPr lang="vi-VN" sz="2000" b="1">
                <a:latin typeface="Calibri" panose="020F0502020204030204" pitchFamily="34" charset="0"/>
                <a:ea typeface="Calibri" panose="020F0502020204030204" pitchFamily="34" charset="0"/>
                <a:cs typeface="Calibri" panose="020F0502020204030204" pitchFamily="34" charset="0"/>
              </a:rPr>
              <a:t>Playback</a:t>
            </a:r>
          </a:p>
          <a:p>
            <a:pPr marL="742950" lvl="1" indent="-285750">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Single</a:t>
            </a:r>
          </a:p>
          <a:p>
            <a:pPr marL="742950" lvl="1" indent="-285750">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Group</a:t>
            </a:r>
          </a:p>
          <a:p>
            <a:pPr marL="742950" lvl="1" indent="-285750">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Boomerang</a:t>
            </a:r>
          </a:p>
          <a:p>
            <a:pPr marL="742950" lvl="1" indent="-285750">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Slow Motion</a:t>
            </a:r>
          </a:p>
        </p:txBody>
      </p:sp>
      <p:sp>
        <p:nvSpPr>
          <p:cNvPr id="20" name="TextBox 19">
            <a:extLst>
              <a:ext uri="{FF2B5EF4-FFF2-40B4-BE49-F238E27FC236}">
                <a16:creationId xmlns:a16="http://schemas.microsoft.com/office/drawing/2014/main" id="{A0283B2B-5387-4A96-36D0-BC97A7133E4C}"/>
              </a:ext>
            </a:extLst>
          </p:cNvPr>
          <p:cNvSpPr txBox="1"/>
          <p:nvPr/>
        </p:nvSpPr>
        <p:spPr>
          <a:xfrm>
            <a:off x="3962400" y="3934904"/>
            <a:ext cx="2133600" cy="1631216"/>
          </a:xfrm>
          <a:prstGeom prst="rect">
            <a:avLst/>
          </a:prstGeom>
          <a:noFill/>
        </p:spPr>
        <p:txBody>
          <a:bodyPr wrap="square" rtlCol="0">
            <a:spAutoFit/>
          </a:bodyPr>
          <a:lstStyle/>
          <a:p>
            <a:r>
              <a:rPr lang="vi-VN" sz="2000" b="1">
                <a:latin typeface="Calibri" panose="020F0502020204030204" pitchFamily="34" charset="0"/>
                <a:ea typeface="Calibri" panose="020F0502020204030204" pitchFamily="34" charset="0"/>
                <a:cs typeface="Calibri" panose="020F0502020204030204" pitchFamily="34" charset="0"/>
              </a:rPr>
              <a:t>Video Processing</a:t>
            </a:r>
          </a:p>
          <a:p>
            <a:pPr marL="742950" lvl="1" indent="-285750">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Transfer</a:t>
            </a:r>
          </a:p>
          <a:p>
            <a:pPr marL="742950" lvl="1" indent="-285750">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Transcode</a:t>
            </a:r>
          </a:p>
          <a:p>
            <a:pPr marL="742950" lvl="1" indent="-285750">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Transition</a:t>
            </a:r>
          </a:p>
          <a:p>
            <a:pPr marL="742950" lvl="1" indent="-285750">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Merge</a:t>
            </a:r>
          </a:p>
        </p:txBody>
      </p:sp>
      <p:sp>
        <p:nvSpPr>
          <p:cNvPr id="24" name="TextBox 23">
            <a:extLst>
              <a:ext uri="{FF2B5EF4-FFF2-40B4-BE49-F238E27FC236}">
                <a16:creationId xmlns:a16="http://schemas.microsoft.com/office/drawing/2014/main" id="{210F354C-A51D-1394-6A05-7A5DE8934BC8}"/>
              </a:ext>
            </a:extLst>
          </p:cNvPr>
          <p:cNvSpPr txBox="1"/>
          <p:nvPr/>
        </p:nvSpPr>
        <p:spPr>
          <a:xfrm>
            <a:off x="7321145" y="5046216"/>
            <a:ext cx="2133600" cy="707886"/>
          </a:xfrm>
          <a:prstGeom prst="rect">
            <a:avLst/>
          </a:prstGeom>
          <a:noFill/>
        </p:spPr>
        <p:txBody>
          <a:bodyPr wrap="square" rtlCol="0">
            <a:spAutoFit/>
          </a:bodyPr>
          <a:lstStyle/>
          <a:p>
            <a:pPr marL="342900" indent="-342900">
              <a:buFont typeface="Arial" panose="020B0604020202020204" pitchFamily="34" charset="0"/>
              <a:buChar char="•"/>
            </a:pPr>
            <a:r>
              <a:rPr lang="vi-VN" sz="2000" b="1">
                <a:latin typeface="Calibri" panose="020F0502020204030204" pitchFamily="34" charset="0"/>
                <a:ea typeface="Calibri" panose="020F0502020204030204" pitchFamily="34" charset="0"/>
                <a:cs typeface="Calibri" panose="020F0502020204030204" pitchFamily="34" charset="0"/>
              </a:rPr>
              <a:t>MotionScrap</a:t>
            </a:r>
          </a:p>
          <a:p>
            <a:pPr marL="342900" indent="-342900">
              <a:buFont typeface="Arial" panose="020B0604020202020204" pitchFamily="34" charset="0"/>
              <a:buChar char="•"/>
            </a:pPr>
            <a:r>
              <a:rPr lang="vi-VN" sz="2000" b="1">
                <a:latin typeface="Calibri" panose="020F0502020204030204" pitchFamily="34" charset="0"/>
                <a:ea typeface="Calibri" panose="020F0502020204030204" pitchFamily="34" charset="0"/>
                <a:cs typeface="Calibri" panose="020F0502020204030204" pitchFamily="34" charset="0"/>
              </a:rPr>
              <a:t>Utilities</a:t>
            </a:r>
          </a:p>
        </p:txBody>
      </p:sp>
      <p:pic>
        <p:nvPicPr>
          <p:cNvPr id="26" name="Picture 25">
            <a:extLst>
              <a:ext uri="{FF2B5EF4-FFF2-40B4-BE49-F238E27FC236}">
                <a16:creationId xmlns:a16="http://schemas.microsoft.com/office/drawing/2014/main" id="{EA112AD4-96E0-1C85-F136-AA5F6A67404B}"/>
              </a:ext>
            </a:extLst>
          </p:cNvPr>
          <p:cNvPicPr>
            <a:picLocks noChangeAspect="1"/>
          </p:cNvPicPr>
          <p:nvPr/>
        </p:nvPicPr>
        <p:blipFill>
          <a:blip r:embed="rId3"/>
          <a:stretch>
            <a:fillRect/>
          </a:stretch>
        </p:blipFill>
        <p:spPr>
          <a:xfrm>
            <a:off x="7321145" y="1504932"/>
            <a:ext cx="4032655" cy="3245579"/>
          </a:xfrm>
          <a:prstGeom prst="rect">
            <a:avLst/>
          </a:prstGeom>
        </p:spPr>
      </p:pic>
    </p:spTree>
    <p:extLst>
      <p:ext uri="{BB962C8B-B14F-4D97-AF65-F5344CB8AC3E}">
        <p14:creationId xmlns:p14="http://schemas.microsoft.com/office/powerpoint/2010/main" val="2098754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6AB04-E124-FC40-4F16-B41AA24DA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D3B33-C3B3-95B3-0C2A-C59A2F2AE933}"/>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Overall Architecture</a:t>
            </a:r>
          </a:p>
        </p:txBody>
      </p:sp>
      <p:grpSp>
        <p:nvGrpSpPr>
          <p:cNvPr id="36" name="Group 35">
            <a:extLst>
              <a:ext uri="{FF2B5EF4-FFF2-40B4-BE49-F238E27FC236}">
                <a16:creationId xmlns:a16="http://schemas.microsoft.com/office/drawing/2014/main" id="{B9A525CE-300B-36EB-4149-0E0ABEDA886D}"/>
              </a:ext>
            </a:extLst>
          </p:cNvPr>
          <p:cNvGrpSpPr/>
          <p:nvPr/>
        </p:nvGrpSpPr>
        <p:grpSpPr>
          <a:xfrm>
            <a:off x="7815067" y="1027271"/>
            <a:ext cx="3267461" cy="4745717"/>
            <a:chOff x="7644379" y="509746"/>
            <a:chExt cx="3267461" cy="4745717"/>
          </a:xfrm>
        </p:grpSpPr>
        <p:grpSp>
          <p:nvGrpSpPr>
            <p:cNvPr id="6" name="Group 5">
              <a:extLst>
                <a:ext uri="{FF2B5EF4-FFF2-40B4-BE49-F238E27FC236}">
                  <a16:creationId xmlns:a16="http://schemas.microsoft.com/office/drawing/2014/main" id="{DE2EBDC8-B1E0-8BFA-FB90-B4112A8FA9CF}"/>
                </a:ext>
              </a:extLst>
            </p:cNvPr>
            <p:cNvGrpSpPr/>
            <p:nvPr/>
          </p:nvGrpSpPr>
          <p:grpSpPr>
            <a:xfrm>
              <a:off x="7646769" y="509746"/>
              <a:ext cx="3265071" cy="580057"/>
              <a:chOff x="4830417" y="3255264"/>
              <a:chExt cx="3265071" cy="580057"/>
            </a:xfrm>
            <a:solidFill>
              <a:schemeClr val="accent4">
                <a:lumMod val="20000"/>
                <a:lumOff val="80000"/>
              </a:schemeClr>
            </a:solidFill>
          </p:grpSpPr>
          <p:sp>
            <p:nvSpPr>
              <p:cNvPr id="7" name="Rectangle: Rounded Corners 6">
                <a:extLst>
                  <a:ext uri="{FF2B5EF4-FFF2-40B4-BE49-F238E27FC236}">
                    <a16:creationId xmlns:a16="http://schemas.microsoft.com/office/drawing/2014/main" id="{4FEDEAD0-6D7A-6DF2-C7E3-3C29B7374795}"/>
                  </a:ext>
                </a:extLst>
              </p:cNvPr>
              <p:cNvSpPr/>
              <p:nvPr/>
            </p:nvSpPr>
            <p:spPr>
              <a:xfrm>
                <a:off x="4830417" y="3255264"/>
                <a:ext cx="3265071" cy="580057"/>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2C7CD88-5DC2-271C-3F6C-BB468B5E3EA1}"/>
                  </a:ext>
                </a:extLst>
              </p:cNvPr>
              <p:cNvSpPr txBox="1"/>
              <p:nvPr/>
            </p:nvSpPr>
            <p:spPr>
              <a:xfrm>
                <a:off x="5771718" y="3358521"/>
                <a:ext cx="1470330" cy="369332"/>
              </a:xfrm>
              <a:prstGeom prst="rect">
                <a:avLst/>
              </a:prstGeom>
              <a:solidFill>
                <a:schemeClr val="accent5">
                  <a:lumMod val="20000"/>
                  <a:lumOff val="80000"/>
                </a:schemeClr>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Application</a:t>
                </a:r>
              </a:p>
            </p:txBody>
          </p:sp>
        </p:grpSp>
        <p:grpSp>
          <p:nvGrpSpPr>
            <p:cNvPr id="11" name="Group 10">
              <a:extLst>
                <a:ext uri="{FF2B5EF4-FFF2-40B4-BE49-F238E27FC236}">
                  <a16:creationId xmlns:a16="http://schemas.microsoft.com/office/drawing/2014/main" id="{CD6C2DC2-AD87-9411-7EF3-5F50A068A6C7}"/>
                </a:ext>
              </a:extLst>
            </p:cNvPr>
            <p:cNvGrpSpPr/>
            <p:nvPr/>
          </p:nvGrpSpPr>
          <p:grpSpPr>
            <a:xfrm>
              <a:off x="7645575" y="1602296"/>
              <a:ext cx="3265071" cy="579754"/>
              <a:chOff x="4830417" y="2588097"/>
              <a:chExt cx="3265071" cy="1036320"/>
            </a:xfrm>
            <a:solidFill>
              <a:schemeClr val="accent4">
                <a:lumMod val="20000"/>
                <a:lumOff val="80000"/>
              </a:schemeClr>
            </a:solidFill>
          </p:grpSpPr>
          <p:sp>
            <p:nvSpPr>
              <p:cNvPr id="12" name="Rectangle: Rounded Corners 11">
                <a:extLst>
                  <a:ext uri="{FF2B5EF4-FFF2-40B4-BE49-F238E27FC236}">
                    <a16:creationId xmlns:a16="http://schemas.microsoft.com/office/drawing/2014/main" id="{CE0A2E05-5A94-2251-7B9B-5CCD2425CD7C}"/>
                  </a:ext>
                </a:extLst>
              </p:cNvPr>
              <p:cNvSpPr/>
              <p:nvPr/>
            </p:nvSpPr>
            <p:spPr>
              <a:xfrm>
                <a:off x="4830417" y="2588097"/>
                <a:ext cx="3265071" cy="1036320"/>
              </a:xfrm>
              <a:prstGeom prst="roundRect">
                <a:avLst/>
              </a:prstGeom>
              <a:solidFill>
                <a:srgbClr val="FFFC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9732A0B8-56A2-EDFF-5D40-464E8F447241}"/>
                  </a:ext>
                </a:extLst>
              </p:cNvPr>
              <p:cNvSpPr txBox="1"/>
              <p:nvPr/>
            </p:nvSpPr>
            <p:spPr>
              <a:xfrm>
                <a:off x="5865546" y="2773248"/>
                <a:ext cx="1377696" cy="433321"/>
              </a:xfrm>
              <a:prstGeom prst="rect">
                <a:avLst/>
              </a:prstGeom>
              <a:solidFill>
                <a:srgbClr val="FFFCE1"/>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Public APIs</a:t>
                </a:r>
              </a:p>
            </p:txBody>
          </p:sp>
        </p:grpSp>
        <p:cxnSp>
          <p:nvCxnSpPr>
            <p:cNvPr id="15" name="Straight Arrow Connector 14">
              <a:extLst>
                <a:ext uri="{FF2B5EF4-FFF2-40B4-BE49-F238E27FC236}">
                  <a16:creationId xmlns:a16="http://schemas.microsoft.com/office/drawing/2014/main" id="{CAF710FA-5B2F-093D-5E60-7F78B7ADAD3C}"/>
                </a:ext>
              </a:extLst>
            </p:cNvPr>
            <p:cNvCxnSpPr>
              <a:cxnSpLocks/>
              <a:stCxn id="7" idx="2"/>
              <a:endCxn id="12" idx="0"/>
            </p:cNvCxnSpPr>
            <p:nvPr/>
          </p:nvCxnSpPr>
          <p:spPr>
            <a:xfrm flipH="1">
              <a:off x="9278111" y="1089803"/>
              <a:ext cx="1194" cy="5124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6" name="Group 15">
              <a:extLst>
                <a:ext uri="{FF2B5EF4-FFF2-40B4-BE49-F238E27FC236}">
                  <a16:creationId xmlns:a16="http://schemas.microsoft.com/office/drawing/2014/main" id="{00AE720A-40B6-EDE7-BA0A-78386FC90714}"/>
                </a:ext>
              </a:extLst>
            </p:cNvPr>
            <p:cNvGrpSpPr/>
            <p:nvPr/>
          </p:nvGrpSpPr>
          <p:grpSpPr>
            <a:xfrm>
              <a:off x="7644381" y="2739460"/>
              <a:ext cx="3265071" cy="474853"/>
              <a:chOff x="4829223" y="2520443"/>
              <a:chExt cx="3265071" cy="1036320"/>
            </a:xfrm>
            <a:solidFill>
              <a:schemeClr val="accent4">
                <a:lumMod val="20000"/>
                <a:lumOff val="80000"/>
              </a:schemeClr>
            </a:solidFill>
          </p:grpSpPr>
          <p:sp>
            <p:nvSpPr>
              <p:cNvPr id="17" name="Rectangle: Rounded Corners 16">
                <a:extLst>
                  <a:ext uri="{FF2B5EF4-FFF2-40B4-BE49-F238E27FC236}">
                    <a16:creationId xmlns:a16="http://schemas.microsoft.com/office/drawing/2014/main" id="{EB1F8D51-3D86-03B9-2E22-0AB5AEB7126C}"/>
                  </a:ext>
                </a:extLst>
              </p:cNvPr>
              <p:cNvSpPr/>
              <p:nvPr/>
            </p:nvSpPr>
            <p:spPr>
              <a:xfrm>
                <a:off x="4829223" y="2520443"/>
                <a:ext cx="3265071" cy="1036320"/>
              </a:xfrm>
              <a:prstGeom prst="roundRect">
                <a:avLst/>
              </a:prstGeom>
              <a:solidFill>
                <a:srgbClr val="FFDD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0C432C37-7BB8-65DB-FC4D-F96FF5AC17EB}"/>
                  </a:ext>
                </a:extLst>
              </p:cNvPr>
              <p:cNvSpPr txBox="1"/>
              <p:nvPr/>
            </p:nvSpPr>
            <p:spPr>
              <a:xfrm>
                <a:off x="5437634" y="2624546"/>
                <a:ext cx="2048247" cy="433320"/>
              </a:xfrm>
              <a:prstGeom prst="rect">
                <a:avLst/>
              </a:prstGeom>
              <a:solidFill>
                <a:srgbClr val="FFDDB0"/>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Media Abstraction</a:t>
                </a:r>
              </a:p>
            </p:txBody>
          </p:sp>
        </p:grpSp>
        <p:cxnSp>
          <p:nvCxnSpPr>
            <p:cNvPr id="19" name="Straight Arrow Connector 18">
              <a:extLst>
                <a:ext uri="{FF2B5EF4-FFF2-40B4-BE49-F238E27FC236}">
                  <a16:creationId xmlns:a16="http://schemas.microsoft.com/office/drawing/2014/main" id="{8C577AC8-197C-7097-9F98-56AE4066372D}"/>
                </a:ext>
              </a:extLst>
            </p:cNvPr>
            <p:cNvCxnSpPr>
              <a:cxnSpLocks/>
              <a:stCxn id="12" idx="2"/>
              <a:endCxn id="17" idx="0"/>
            </p:cNvCxnSpPr>
            <p:nvPr/>
          </p:nvCxnSpPr>
          <p:spPr>
            <a:xfrm flipH="1">
              <a:off x="9276917" y="2182050"/>
              <a:ext cx="1194" cy="5574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6" name="Group 25">
              <a:extLst>
                <a:ext uri="{FF2B5EF4-FFF2-40B4-BE49-F238E27FC236}">
                  <a16:creationId xmlns:a16="http://schemas.microsoft.com/office/drawing/2014/main" id="{CE5C2690-B5F7-4482-31E5-4BC2E950CE7B}"/>
                </a:ext>
              </a:extLst>
            </p:cNvPr>
            <p:cNvGrpSpPr/>
            <p:nvPr/>
          </p:nvGrpSpPr>
          <p:grpSpPr>
            <a:xfrm>
              <a:off x="7644379" y="3760589"/>
              <a:ext cx="3265071" cy="474853"/>
              <a:chOff x="4829221" y="2314341"/>
              <a:chExt cx="3265071" cy="1036320"/>
            </a:xfrm>
            <a:solidFill>
              <a:schemeClr val="accent4">
                <a:lumMod val="20000"/>
                <a:lumOff val="80000"/>
              </a:schemeClr>
            </a:solidFill>
          </p:grpSpPr>
          <p:sp>
            <p:nvSpPr>
              <p:cNvPr id="27" name="Rectangle: Rounded Corners 26">
                <a:extLst>
                  <a:ext uri="{FF2B5EF4-FFF2-40B4-BE49-F238E27FC236}">
                    <a16:creationId xmlns:a16="http://schemas.microsoft.com/office/drawing/2014/main" id="{7C6F093A-3823-EBF0-F1F1-24859F189E64}"/>
                  </a:ext>
                </a:extLst>
              </p:cNvPr>
              <p:cNvSpPr/>
              <p:nvPr/>
            </p:nvSpPr>
            <p:spPr>
              <a:xfrm>
                <a:off x="4829221" y="2314341"/>
                <a:ext cx="3265071" cy="1036320"/>
              </a:xfrm>
              <a:prstGeom prst="roundRect">
                <a:avLst/>
              </a:prstGeom>
              <a:solidFill>
                <a:srgbClr val="FFBE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49D93D85-D2FF-AE7E-D3FE-E7581BD9D113}"/>
                  </a:ext>
                </a:extLst>
              </p:cNvPr>
              <p:cNvSpPr txBox="1"/>
              <p:nvPr/>
            </p:nvSpPr>
            <p:spPr>
              <a:xfrm>
                <a:off x="4973737" y="2410223"/>
                <a:ext cx="2976038" cy="806031"/>
              </a:xfrm>
              <a:prstGeom prst="rect">
                <a:avLst/>
              </a:prstGeom>
              <a:solidFill>
                <a:srgbClr val="FFBE91"/>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Metadata &amp; Media Processing</a:t>
                </a:r>
              </a:p>
            </p:txBody>
          </p:sp>
        </p:grpSp>
        <p:cxnSp>
          <p:nvCxnSpPr>
            <p:cNvPr id="29" name="Straight Arrow Connector 28">
              <a:extLst>
                <a:ext uri="{FF2B5EF4-FFF2-40B4-BE49-F238E27FC236}">
                  <a16:creationId xmlns:a16="http://schemas.microsoft.com/office/drawing/2014/main" id="{DE34E352-58CA-0121-50A4-4E60484FFDFE}"/>
                </a:ext>
              </a:extLst>
            </p:cNvPr>
            <p:cNvCxnSpPr>
              <a:cxnSpLocks/>
              <a:stCxn id="17" idx="2"/>
              <a:endCxn id="27" idx="0"/>
            </p:cNvCxnSpPr>
            <p:nvPr/>
          </p:nvCxnSpPr>
          <p:spPr>
            <a:xfrm flipH="1">
              <a:off x="9276915" y="3214313"/>
              <a:ext cx="2" cy="5462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31" name="Group 30">
              <a:extLst>
                <a:ext uri="{FF2B5EF4-FFF2-40B4-BE49-F238E27FC236}">
                  <a16:creationId xmlns:a16="http://schemas.microsoft.com/office/drawing/2014/main" id="{7DCCC94B-5CA5-71C5-BFB2-12665F88A38E}"/>
                </a:ext>
              </a:extLst>
            </p:cNvPr>
            <p:cNvGrpSpPr/>
            <p:nvPr/>
          </p:nvGrpSpPr>
          <p:grpSpPr>
            <a:xfrm>
              <a:off x="7645575" y="4780610"/>
              <a:ext cx="3265071" cy="474853"/>
              <a:chOff x="4830417" y="1993908"/>
              <a:chExt cx="3265071" cy="1036320"/>
            </a:xfrm>
            <a:solidFill>
              <a:schemeClr val="accent4">
                <a:lumMod val="20000"/>
                <a:lumOff val="80000"/>
              </a:schemeClr>
            </a:solidFill>
          </p:grpSpPr>
          <p:sp>
            <p:nvSpPr>
              <p:cNvPr id="32" name="Rectangle: Rounded Corners 31">
                <a:extLst>
                  <a:ext uri="{FF2B5EF4-FFF2-40B4-BE49-F238E27FC236}">
                    <a16:creationId xmlns:a16="http://schemas.microsoft.com/office/drawing/2014/main" id="{F63A6A12-2EFC-4CF9-6A42-334FDADEB4A8}"/>
                  </a:ext>
                </a:extLst>
              </p:cNvPr>
              <p:cNvSpPr/>
              <p:nvPr/>
            </p:nvSpPr>
            <p:spPr>
              <a:xfrm>
                <a:off x="4830417" y="1993908"/>
                <a:ext cx="3265071" cy="103632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A875B00C-4094-8D9B-E361-C08390D534A9}"/>
                  </a:ext>
                </a:extLst>
              </p:cNvPr>
              <p:cNvSpPr txBox="1"/>
              <p:nvPr/>
            </p:nvSpPr>
            <p:spPr>
              <a:xfrm>
                <a:off x="5824430" y="2109052"/>
                <a:ext cx="1367294" cy="806031"/>
              </a:xfrm>
              <a:prstGeom prst="rect">
                <a:avLst/>
              </a:prstGeom>
              <a:solidFill>
                <a:schemeClr val="accent2">
                  <a:lumMod val="60000"/>
                  <a:lumOff val="40000"/>
                </a:schemeClr>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Media Files</a:t>
                </a:r>
              </a:p>
            </p:txBody>
          </p:sp>
        </p:grpSp>
        <p:cxnSp>
          <p:nvCxnSpPr>
            <p:cNvPr id="34" name="Straight Arrow Connector 33">
              <a:extLst>
                <a:ext uri="{FF2B5EF4-FFF2-40B4-BE49-F238E27FC236}">
                  <a16:creationId xmlns:a16="http://schemas.microsoft.com/office/drawing/2014/main" id="{E79E0D72-0D09-2649-AEC8-8CF3DCF7EBE2}"/>
                </a:ext>
              </a:extLst>
            </p:cNvPr>
            <p:cNvCxnSpPr>
              <a:cxnSpLocks/>
              <a:stCxn id="27" idx="2"/>
              <a:endCxn id="32" idx="0"/>
            </p:cNvCxnSpPr>
            <p:nvPr/>
          </p:nvCxnSpPr>
          <p:spPr>
            <a:xfrm>
              <a:off x="9276915" y="4235442"/>
              <a:ext cx="1196" cy="54516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65111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45DB2-7B6B-4B67-3884-CD5B7A03D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107A4-A370-BE0A-E623-A7774E4123B3}"/>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Overall Architecture</a:t>
            </a:r>
          </a:p>
        </p:txBody>
      </p:sp>
      <p:grpSp>
        <p:nvGrpSpPr>
          <p:cNvPr id="36" name="Group 35">
            <a:extLst>
              <a:ext uri="{FF2B5EF4-FFF2-40B4-BE49-F238E27FC236}">
                <a16:creationId xmlns:a16="http://schemas.microsoft.com/office/drawing/2014/main" id="{60A691B5-CE3F-A461-D9A9-71FBA06FB9C3}"/>
              </a:ext>
            </a:extLst>
          </p:cNvPr>
          <p:cNvGrpSpPr/>
          <p:nvPr/>
        </p:nvGrpSpPr>
        <p:grpSpPr>
          <a:xfrm>
            <a:off x="4354237" y="1501833"/>
            <a:ext cx="3267461" cy="4745717"/>
            <a:chOff x="7644379" y="509746"/>
            <a:chExt cx="3267461" cy="4745717"/>
          </a:xfrm>
        </p:grpSpPr>
        <p:grpSp>
          <p:nvGrpSpPr>
            <p:cNvPr id="6" name="Group 5">
              <a:extLst>
                <a:ext uri="{FF2B5EF4-FFF2-40B4-BE49-F238E27FC236}">
                  <a16:creationId xmlns:a16="http://schemas.microsoft.com/office/drawing/2014/main" id="{792DAC06-CFDB-741A-1BAE-AA8EED25FB6E}"/>
                </a:ext>
              </a:extLst>
            </p:cNvPr>
            <p:cNvGrpSpPr/>
            <p:nvPr/>
          </p:nvGrpSpPr>
          <p:grpSpPr>
            <a:xfrm>
              <a:off x="7646769" y="509746"/>
              <a:ext cx="3265071" cy="580057"/>
              <a:chOff x="4830417" y="3255264"/>
              <a:chExt cx="3265071" cy="580057"/>
            </a:xfrm>
            <a:solidFill>
              <a:schemeClr val="accent4">
                <a:lumMod val="20000"/>
                <a:lumOff val="80000"/>
              </a:schemeClr>
            </a:solidFill>
          </p:grpSpPr>
          <p:sp>
            <p:nvSpPr>
              <p:cNvPr id="7" name="Rectangle: Rounded Corners 6">
                <a:extLst>
                  <a:ext uri="{FF2B5EF4-FFF2-40B4-BE49-F238E27FC236}">
                    <a16:creationId xmlns:a16="http://schemas.microsoft.com/office/drawing/2014/main" id="{48BD4C34-B150-3EAF-2FF2-257C7D24F1A4}"/>
                  </a:ext>
                </a:extLst>
              </p:cNvPr>
              <p:cNvSpPr/>
              <p:nvPr/>
            </p:nvSpPr>
            <p:spPr>
              <a:xfrm>
                <a:off x="4830417" y="3255264"/>
                <a:ext cx="3265071" cy="580057"/>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6F8E879-4785-14C2-DD71-BCBD6D0B9903}"/>
                  </a:ext>
                </a:extLst>
              </p:cNvPr>
              <p:cNvSpPr txBox="1"/>
              <p:nvPr/>
            </p:nvSpPr>
            <p:spPr>
              <a:xfrm>
                <a:off x="5771718" y="3358521"/>
                <a:ext cx="1470330" cy="369332"/>
              </a:xfrm>
              <a:prstGeom prst="rect">
                <a:avLst/>
              </a:prstGeom>
              <a:solidFill>
                <a:schemeClr val="accent5">
                  <a:lumMod val="20000"/>
                  <a:lumOff val="80000"/>
                </a:schemeClr>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Application</a:t>
                </a:r>
              </a:p>
            </p:txBody>
          </p:sp>
        </p:grpSp>
        <p:grpSp>
          <p:nvGrpSpPr>
            <p:cNvPr id="11" name="Group 10">
              <a:extLst>
                <a:ext uri="{FF2B5EF4-FFF2-40B4-BE49-F238E27FC236}">
                  <a16:creationId xmlns:a16="http://schemas.microsoft.com/office/drawing/2014/main" id="{E19220F3-49BF-9D28-F014-96D46949FD52}"/>
                </a:ext>
              </a:extLst>
            </p:cNvPr>
            <p:cNvGrpSpPr/>
            <p:nvPr/>
          </p:nvGrpSpPr>
          <p:grpSpPr>
            <a:xfrm>
              <a:off x="7645575" y="1602296"/>
              <a:ext cx="3265071" cy="579754"/>
              <a:chOff x="4830417" y="2588097"/>
              <a:chExt cx="3265071" cy="1036320"/>
            </a:xfrm>
            <a:solidFill>
              <a:schemeClr val="accent4">
                <a:lumMod val="20000"/>
                <a:lumOff val="80000"/>
              </a:schemeClr>
            </a:solidFill>
          </p:grpSpPr>
          <p:sp>
            <p:nvSpPr>
              <p:cNvPr id="12" name="Rectangle: Rounded Corners 11">
                <a:extLst>
                  <a:ext uri="{FF2B5EF4-FFF2-40B4-BE49-F238E27FC236}">
                    <a16:creationId xmlns:a16="http://schemas.microsoft.com/office/drawing/2014/main" id="{8A6947FB-99D5-7A5D-58F5-C298ABC4E1F9}"/>
                  </a:ext>
                </a:extLst>
              </p:cNvPr>
              <p:cNvSpPr/>
              <p:nvPr/>
            </p:nvSpPr>
            <p:spPr>
              <a:xfrm>
                <a:off x="4830417" y="2588097"/>
                <a:ext cx="3265071" cy="1036320"/>
              </a:xfrm>
              <a:prstGeom prst="roundRect">
                <a:avLst/>
              </a:prstGeom>
              <a:solidFill>
                <a:srgbClr val="FFFC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B859C838-3825-7E29-2808-0B14CAF3AE99}"/>
                  </a:ext>
                </a:extLst>
              </p:cNvPr>
              <p:cNvSpPr txBox="1"/>
              <p:nvPr/>
            </p:nvSpPr>
            <p:spPr>
              <a:xfrm>
                <a:off x="5865546" y="2773248"/>
                <a:ext cx="1377696" cy="433321"/>
              </a:xfrm>
              <a:prstGeom prst="rect">
                <a:avLst/>
              </a:prstGeom>
              <a:solidFill>
                <a:srgbClr val="FFFCE1"/>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Public APIs</a:t>
                </a:r>
              </a:p>
            </p:txBody>
          </p:sp>
        </p:grpSp>
        <p:cxnSp>
          <p:nvCxnSpPr>
            <p:cNvPr id="15" name="Straight Arrow Connector 14">
              <a:extLst>
                <a:ext uri="{FF2B5EF4-FFF2-40B4-BE49-F238E27FC236}">
                  <a16:creationId xmlns:a16="http://schemas.microsoft.com/office/drawing/2014/main" id="{9A6BDD79-6675-B4A9-9FDE-DEB44D254221}"/>
                </a:ext>
              </a:extLst>
            </p:cNvPr>
            <p:cNvCxnSpPr>
              <a:cxnSpLocks/>
              <a:stCxn id="7" idx="2"/>
              <a:endCxn id="12" idx="0"/>
            </p:cNvCxnSpPr>
            <p:nvPr/>
          </p:nvCxnSpPr>
          <p:spPr>
            <a:xfrm flipH="1">
              <a:off x="9278111" y="1089803"/>
              <a:ext cx="1194" cy="5124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6" name="Group 15">
              <a:extLst>
                <a:ext uri="{FF2B5EF4-FFF2-40B4-BE49-F238E27FC236}">
                  <a16:creationId xmlns:a16="http://schemas.microsoft.com/office/drawing/2014/main" id="{DF111401-ECD8-2589-8176-A7D50BEF4301}"/>
                </a:ext>
              </a:extLst>
            </p:cNvPr>
            <p:cNvGrpSpPr/>
            <p:nvPr/>
          </p:nvGrpSpPr>
          <p:grpSpPr>
            <a:xfrm>
              <a:off x="7644381" y="2739460"/>
              <a:ext cx="3265071" cy="474853"/>
              <a:chOff x="4829223" y="2520443"/>
              <a:chExt cx="3265071" cy="1036320"/>
            </a:xfrm>
            <a:solidFill>
              <a:schemeClr val="accent4">
                <a:lumMod val="20000"/>
                <a:lumOff val="80000"/>
              </a:schemeClr>
            </a:solidFill>
          </p:grpSpPr>
          <p:sp>
            <p:nvSpPr>
              <p:cNvPr id="17" name="Rectangle: Rounded Corners 16">
                <a:extLst>
                  <a:ext uri="{FF2B5EF4-FFF2-40B4-BE49-F238E27FC236}">
                    <a16:creationId xmlns:a16="http://schemas.microsoft.com/office/drawing/2014/main" id="{18698C06-5799-7910-5B8D-7A623C95CA78}"/>
                  </a:ext>
                </a:extLst>
              </p:cNvPr>
              <p:cNvSpPr/>
              <p:nvPr/>
            </p:nvSpPr>
            <p:spPr>
              <a:xfrm>
                <a:off x="4829223" y="2520443"/>
                <a:ext cx="3265071" cy="1036320"/>
              </a:xfrm>
              <a:prstGeom prst="roundRect">
                <a:avLst/>
              </a:prstGeom>
              <a:solidFill>
                <a:srgbClr val="FFDD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9F4387A5-3E46-776A-3B4F-0BF591A5E13D}"/>
                  </a:ext>
                </a:extLst>
              </p:cNvPr>
              <p:cNvSpPr txBox="1"/>
              <p:nvPr/>
            </p:nvSpPr>
            <p:spPr>
              <a:xfrm>
                <a:off x="5437634" y="2624546"/>
                <a:ext cx="2048247" cy="433320"/>
              </a:xfrm>
              <a:prstGeom prst="rect">
                <a:avLst/>
              </a:prstGeom>
              <a:solidFill>
                <a:srgbClr val="FFDDB0"/>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Media Abstraction</a:t>
                </a:r>
              </a:p>
            </p:txBody>
          </p:sp>
        </p:grpSp>
        <p:cxnSp>
          <p:nvCxnSpPr>
            <p:cNvPr id="19" name="Straight Arrow Connector 18">
              <a:extLst>
                <a:ext uri="{FF2B5EF4-FFF2-40B4-BE49-F238E27FC236}">
                  <a16:creationId xmlns:a16="http://schemas.microsoft.com/office/drawing/2014/main" id="{1F5C34A8-69CE-BB90-08F3-C85C8C08E8CB}"/>
                </a:ext>
              </a:extLst>
            </p:cNvPr>
            <p:cNvCxnSpPr>
              <a:cxnSpLocks/>
              <a:stCxn id="12" idx="2"/>
              <a:endCxn id="17" idx="0"/>
            </p:cNvCxnSpPr>
            <p:nvPr/>
          </p:nvCxnSpPr>
          <p:spPr>
            <a:xfrm flipH="1">
              <a:off x="9276917" y="2182050"/>
              <a:ext cx="1194" cy="5574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6" name="Group 25">
              <a:extLst>
                <a:ext uri="{FF2B5EF4-FFF2-40B4-BE49-F238E27FC236}">
                  <a16:creationId xmlns:a16="http://schemas.microsoft.com/office/drawing/2014/main" id="{66F60F93-632D-C239-6970-FBFF96053290}"/>
                </a:ext>
              </a:extLst>
            </p:cNvPr>
            <p:cNvGrpSpPr/>
            <p:nvPr/>
          </p:nvGrpSpPr>
          <p:grpSpPr>
            <a:xfrm>
              <a:off x="7644379" y="3760589"/>
              <a:ext cx="3265071" cy="474853"/>
              <a:chOff x="4829221" y="2314341"/>
              <a:chExt cx="3265071" cy="1036320"/>
            </a:xfrm>
            <a:solidFill>
              <a:schemeClr val="accent4">
                <a:lumMod val="20000"/>
                <a:lumOff val="80000"/>
              </a:schemeClr>
            </a:solidFill>
          </p:grpSpPr>
          <p:sp>
            <p:nvSpPr>
              <p:cNvPr id="27" name="Rectangle: Rounded Corners 26">
                <a:extLst>
                  <a:ext uri="{FF2B5EF4-FFF2-40B4-BE49-F238E27FC236}">
                    <a16:creationId xmlns:a16="http://schemas.microsoft.com/office/drawing/2014/main" id="{189FBFA5-BC93-3E44-5DE5-4E911CF00067}"/>
                  </a:ext>
                </a:extLst>
              </p:cNvPr>
              <p:cNvSpPr/>
              <p:nvPr/>
            </p:nvSpPr>
            <p:spPr>
              <a:xfrm>
                <a:off x="4829221" y="2314341"/>
                <a:ext cx="3265071" cy="1036320"/>
              </a:xfrm>
              <a:prstGeom prst="roundRect">
                <a:avLst/>
              </a:prstGeom>
              <a:solidFill>
                <a:srgbClr val="FFBE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86B10C6C-A19D-E0C3-0A8F-4B08BA8FA1F1}"/>
                  </a:ext>
                </a:extLst>
              </p:cNvPr>
              <p:cNvSpPr txBox="1"/>
              <p:nvPr/>
            </p:nvSpPr>
            <p:spPr>
              <a:xfrm>
                <a:off x="4973737" y="2410223"/>
                <a:ext cx="2976038" cy="806031"/>
              </a:xfrm>
              <a:prstGeom prst="rect">
                <a:avLst/>
              </a:prstGeom>
              <a:solidFill>
                <a:srgbClr val="FFBE91"/>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Metadata &amp; Media Processing</a:t>
                </a:r>
              </a:p>
            </p:txBody>
          </p:sp>
        </p:grpSp>
        <p:cxnSp>
          <p:nvCxnSpPr>
            <p:cNvPr id="29" name="Straight Arrow Connector 28">
              <a:extLst>
                <a:ext uri="{FF2B5EF4-FFF2-40B4-BE49-F238E27FC236}">
                  <a16:creationId xmlns:a16="http://schemas.microsoft.com/office/drawing/2014/main" id="{A454D04F-AFDC-18B7-F6E5-3FC092800990}"/>
                </a:ext>
              </a:extLst>
            </p:cNvPr>
            <p:cNvCxnSpPr>
              <a:cxnSpLocks/>
              <a:stCxn id="17" idx="2"/>
              <a:endCxn id="27" idx="0"/>
            </p:cNvCxnSpPr>
            <p:nvPr/>
          </p:nvCxnSpPr>
          <p:spPr>
            <a:xfrm flipH="1">
              <a:off x="9276915" y="3214313"/>
              <a:ext cx="2" cy="5462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31" name="Group 30">
              <a:extLst>
                <a:ext uri="{FF2B5EF4-FFF2-40B4-BE49-F238E27FC236}">
                  <a16:creationId xmlns:a16="http://schemas.microsoft.com/office/drawing/2014/main" id="{2BDB4938-6467-1F6D-BE97-7D0CAB9B7FFD}"/>
                </a:ext>
              </a:extLst>
            </p:cNvPr>
            <p:cNvGrpSpPr/>
            <p:nvPr/>
          </p:nvGrpSpPr>
          <p:grpSpPr>
            <a:xfrm>
              <a:off x="7645575" y="4780610"/>
              <a:ext cx="3265071" cy="474853"/>
              <a:chOff x="4830417" y="1993908"/>
              <a:chExt cx="3265071" cy="1036320"/>
            </a:xfrm>
            <a:solidFill>
              <a:schemeClr val="accent4">
                <a:lumMod val="20000"/>
                <a:lumOff val="80000"/>
              </a:schemeClr>
            </a:solidFill>
          </p:grpSpPr>
          <p:sp>
            <p:nvSpPr>
              <p:cNvPr id="32" name="Rectangle: Rounded Corners 31">
                <a:extLst>
                  <a:ext uri="{FF2B5EF4-FFF2-40B4-BE49-F238E27FC236}">
                    <a16:creationId xmlns:a16="http://schemas.microsoft.com/office/drawing/2014/main" id="{B72D1517-9DC0-6C3F-7ECD-77ED4481E471}"/>
                  </a:ext>
                </a:extLst>
              </p:cNvPr>
              <p:cNvSpPr/>
              <p:nvPr/>
            </p:nvSpPr>
            <p:spPr>
              <a:xfrm>
                <a:off x="4830417" y="1993908"/>
                <a:ext cx="3265071" cy="103632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EABCA2D3-8C94-4D4A-0281-E78E2FD80C98}"/>
                  </a:ext>
                </a:extLst>
              </p:cNvPr>
              <p:cNvSpPr txBox="1"/>
              <p:nvPr/>
            </p:nvSpPr>
            <p:spPr>
              <a:xfrm>
                <a:off x="5824430" y="2109052"/>
                <a:ext cx="1367294" cy="806031"/>
              </a:xfrm>
              <a:prstGeom prst="rect">
                <a:avLst/>
              </a:prstGeom>
              <a:solidFill>
                <a:schemeClr val="accent2">
                  <a:lumMod val="60000"/>
                  <a:lumOff val="40000"/>
                </a:schemeClr>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Media Files</a:t>
                </a:r>
              </a:p>
            </p:txBody>
          </p:sp>
        </p:grpSp>
        <p:cxnSp>
          <p:nvCxnSpPr>
            <p:cNvPr id="34" name="Straight Arrow Connector 33">
              <a:extLst>
                <a:ext uri="{FF2B5EF4-FFF2-40B4-BE49-F238E27FC236}">
                  <a16:creationId xmlns:a16="http://schemas.microsoft.com/office/drawing/2014/main" id="{C392A8F7-EC8E-02C3-28A7-78D59FF3AAB4}"/>
                </a:ext>
              </a:extLst>
            </p:cNvPr>
            <p:cNvCxnSpPr>
              <a:cxnSpLocks/>
              <a:stCxn id="27" idx="2"/>
              <a:endCxn id="32" idx="0"/>
            </p:cNvCxnSpPr>
            <p:nvPr/>
          </p:nvCxnSpPr>
          <p:spPr>
            <a:xfrm>
              <a:off x="9276915" y="4235442"/>
              <a:ext cx="1196" cy="54516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106347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B8C43-7F57-CEDD-041F-7292562B7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875CF-E938-B60B-D456-838EE4A7BC29}"/>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Framework Structure</a:t>
            </a:r>
          </a:p>
        </p:txBody>
      </p:sp>
      <p:grpSp>
        <p:nvGrpSpPr>
          <p:cNvPr id="47" name="Group 46">
            <a:extLst>
              <a:ext uri="{FF2B5EF4-FFF2-40B4-BE49-F238E27FC236}">
                <a16:creationId xmlns:a16="http://schemas.microsoft.com/office/drawing/2014/main" id="{4F35183B-7090-C329-8189-2A6CB9EE382D}"/>
              </a:ext>
            </a:extLst>
          </p:cNvPr>
          <p:cNvGrpSpPr/>
          <p:nvPr/>
        </p:nvGrpSpPr>
        <p:grpSpPr>
          <a:xfrm>
            <a:off x="1420714" y="1690688"/>
            <a:ext cx="9545636" cy="3725696"/>
            <a:chOff x="445354" y="1484471"/>
            <a:chExt cx="9545636" cy="3725696"/>
          </a:xfrm>
        </p:grpSpPr>
        <p:grpSp>
          <p:nvGrpSpPr>
            <p:cNvPr id="36" name="Group 35">
              <a:extLst>
                <a:ext uri="{FF2B5EF4-FFF2-40B4-BE49-F238E27FC236}">
                  <a16:creationId xmlns:a16="http://schemas.microsoft.com/office/drawing/2014/main" id="{7A9F3AC0-B4CE-D8D2-7D20-3B27185D7571}"/>
                </a:ext>
              </a:extLst>
            </p:cNvPr>
            <p:cNvGrpSpPr/>
            <p:nvPr/>
          </p:nvGrpSpPr>
          <p:grpSpPr>
            <a:xfrm>
              <a:off x="445354" y="1484471"/>
              <a:ext cx="9545636" cy="3725696"/>
              <a:chOff x="4328506" y="509746"/>
              <a:chExt cx="9545636" cy="3725696"/>
            </a:xfrm>
          </p:grpSpPr>
          <p:grpSp>
            <p:nvGrpSpPr>
              <p:cNvPr id="6" name="Group 5">
                <a:extLst>
                  <a:ext uri="{FF2B5EF4-FFF2-40B4-BE49-F238E27FC236}">
                    <a16:creationId xmlns:a16="http://schemas.microsoft.com/office/drawing/2014/main" id="{29354A23-B2A9-4B14-DC07-DAA26CEF1288}"/>
                  </a:ext>
                </a:extLst>
              </p:cNvPr>
              <p:cNvGrpSpPr/>
              <p:nvPr/>
            </p:nvGrpSpPr>
            <p:grpSpPr>
              <a:xfrm>
                <a:off x="7646769" y="509746"/>
                <a:ext cx="2654271" cy="580057"/>
                <a:chOff x="4830417" y="3255264"/>
                <a:chExt cx="2654271" cy="580057"/>
              </a:xfrm>
              <a:solidFill>
                <a:schemeClr val="accent4">
                  <a:lumMod val="20000"/>
                  <a:lumOff val="80000"/>
                </a:schemeClr>
              </a:solidFill>
            </p:grpSpPr>
            <p:sp>
              <p:nvSpPr>
                <p:cNvPr id="7" name="Rectangle: Rounded Corners 6">
                  <a:extLst>
                    <a:ext uri="{FF2B5EF4-FFF2-40B4-BE49-F238E27FC236}">
                      <a16:creationId xmlns:a16="http://schemas.microsoft.com/office/drawing/2014/main" id="{2E27A523-2BCC-1419-0C40-56AB22F8703F}"/>
                    </a:ext>
                  </a:extLst>
                </p:cNvPr>
                <p:cNvSpPr/>
                <p:nvPr/>
              </p:nvSpPr>
              <p:spPr>
                <a:xfrm>
                  <a:off x="4830417" y="3255264"/>
                  <a:ext cx="2654271" cy="580057"/>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9488800C-7835-5831-38A8-7E58AA9E4829}"/>
                    </a:ext>
                  </a:extLst>
                </p:cNvPr>
                <p:cNvSpPr txBox="1"/>
                <p:nvPr/>
              </p:nvSpPr>
              <p:spPr>
                <a:xfrm>
                  <a:off x="5692470" y="3322827"/>
                  <a:ext cx="1470330" cy="369332"/>
                </a:xfrm>
                <a:prstGeom prst="rect">
                  <a:avLst/>
                </a:prstGeom>
                <a:solidFill>
                  <a:schemeClr val="accent5">
                    <a:lumMod val="20000"/>
                    <a:lumOff val="80000"/>
                  </a:schemeClr>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MPUtil</a:t>
                  </a:r>
                </a:p>
              </p:txBody>
            </p:sp>
          </p:grpSp>
          <p:grpSp>
            <p:nvGrpSpPr>
              <p:cNvPr id="11" name="Group 10">
                <a:extLst>
                  <a:ext uri="{FF2B5EF4-FFF2-40B4-BE49-F238E27FC236}">
                    <a16:creationId xmlns:a16="http://schemas.microsoft.com/office/drawing/2014/main" id="{EE22F3AF-6781-8F56-DACD-8AA358D01A34}"/>
                  </a:ext>
                </a:extLst>
              </p:cNvPr>
              <p:cNvGrpSpPr/>
              <p:nvPr/>
            </p:nvGrpSpPr>
            <p:grpSpPr>
              <a:xfrm>
                <a:off x="4328506" y="1594947"/>
                <a:ext cx="9545636" cy="600161"/>
                <a:chOff x="1513348" y="2574959"/>
                <a:chExt cx="9545636" cy="1072797"/>
              </a:xfrm>
              <a:solidFill>
                <a:schemeClr val="accent4">
                  <a:lumMod val="20000"/>
                  <a:lumOff val="80000"/>
                </a:schemeClr>
              </a:solidFill>
            </p:grpSpPr>
            <p:sp>
              <p:nvSpPr>
                <p:cNvPr id="12" name="Rectangle: Rounded Corners 11">
                  <a:extLst>
                    <a:ext uri="{FF2B5EF4-FFF2-40B4-BE49-F238E27FC236}">
                      <a16:creationId xmlns:a16="http://schemas.microsoft.com/office/drawing/2014/main" id="{DF60B38A-ECED-6845-8024-B73E4A859E73}"/>
                    </a:ext>
                  </a:extLst>
                </p:cNvPr>
                <p:cNvSpPr/>
                <p:nvPr/>
              </p:nvSpPr>
              <p:spPr>
                <a:xfrm>
                  <a:off x="4830417" y="2588097"/>
                  <a:ext cx="2655465" cy="1036319"/>
                </a:xfrm>
                <a:prstGeom prst="roundRect">
                  <a:avLst/>
                </a:prstGeom>
                <a:solidFill>
                  <a:srgbClr val="FFFC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A8572E9-9C06-2056-71A9-B8ABF0F58779}"/>
                    </a:ext>
                  </a:extLst>
                </p:cNvPr>
                <p:cNvSpPr txBox="1"/>
                <p:nvPr/>
              </p:nvSpPr>
              <p:spPr>
                <a:xfrm>
                  <a:off x="5622300" y="2757793"/>
                  <a:ext cx="1377696" cy="660187"/>
                </a:xfrm>
                <a:prstGeom prst="rect">
                  <a:avLst/>
                </a:prstGeom>
                <a:solidFill>
                  <a:srgbClr val="FFFCE1"/>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Playback</a:t>
                  </a:r>
                </a:p>
              </p:txBody>
            </p:sp>
            <p:sp>
              <p:nvSpPr>
                <p:cNvPr id="8" name="Rectangle: Rounded Corners 7">
                  <a:extLst>
                    <a:ext uri="{FF2B5EF4-FFF2-40B4-BE49-F238E27FC236}">
                      <a16:creationId xmlns:a16="http://schemas.microsoft.com/office/drawing/2014/main" id="{7A6A8895-755E-DD82-66CB-FBFF01CA8F2C}"/>
                    </a:ext>
                  </a:extLst>
                </p:cNvPr>
                <p:cNvSpPr/>
                <p:nvPr/>
              </p:nvSpPr>
              <p:spPr>
                <a:xfrm>
                  <a:off x="1513348" y="2611436"/>
                  <a:ext cx="2130733" cy="1036320"/>
                </a:xfrm>
                <a:prstGeom prst="roundRect">
                  <a:avLst/>
                </a:prstGeom>
                <a:solidFill>
                  <a:srgbClr val="FFFC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969F8EF-6BE3-A73E-BF54-E0E60BFA5FD3}"/>
                    </a:ext>
                  </a:extLst>
                </p:cNvPr>
                <p:cNvSpPr txBox="1"/>
                <p:nvPr/>
              </p:nvSpPr>
              <p:spPr>
                <a:xfrm>
                  <a:off x="2017180" y="2757793"/>
                  <a:ext cx="1377696" cy="660187"/>
                </a:xfrm>
                <a:prstGeom prst="rect">
                  <a:avLst/>
                </a:prstGeom>
                <a:solidFill>
                  <a:srgbClr val="FFFCE1"/>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Metadata</a:t>
                  </a:r>
                </a:p>
              </p:txBody>
            </p:sp>
            <p:sp>
              <p:nvSpPr>
                <p:cNvPr id="35" name="Rectangle: Rounded Corners 34">
                  <a:extLst>
                    <a:ext uri="{FF2B5EF4-FFF2-40B4-BE49-F238E27FC236}">
                      <a16:creationId xmlns:a16="http://schemas.microsoft.com/office/drawing/2014/main" id="{35EC390E-6B1B-32CD-5235-738E947AE45D}"/>
                    </a:ext>
                  </a:extLst>
                </p:cNvPr>
                <p:cNvSpPr/>
                <p:nvPr/>
              </p:nvSpPr>
              <p:spPr>
                <a:xfrm>
                  <a:off x="8672218" y="2574959"/>
                  <a:ext cx="2386766" cy="1036319"/>
                </a:xfrm>
                <a:prstGeom prst="roundRect">
                  <a:avLst/>
                </a:prstGeom>
                <a:solidFill>
                  <a:srgbClr val="FFFC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4569FE3E-2362-9E7B-C3A3-1456CC217DF4}"/>
                    </a:ext>
                  </a:extLst>
                </p:cNvPr>
                <p:cNvSpPr txBox="1"/>
                <p:nvPr/>
              </p:nvSpPr>
              <p:spPr>
                <a:xfrm>
                  <a:off x="8930640" y="2763025"/>
                  <a:ext cx="2128344" cy="660187"/>
                </a:xfrm>
                <a:prstGeom prst="rect">
                  <a:avLst/>
                </a:prstGeom>
                <a:solidFill>
                  <a:srgbClr val="FFFCE1"/>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Video Processing</a:t>
                  </a:r>
                </a:p>
              </p:txBody>
            </p:sp>
          </p:grpSp>
          <p:cxnSp>
            <p:nvCxnSpPr>
              <p:cNvPr id="15" name="Straight Arrow Connector 14">
                <a:extLst>
                  <a:ext uri="{FF2B5EF4-FFF2-40B4-BE49-F238E27FC236}">
                    <a16:creationId xmlns:a16="http://schemas.microsoft.com/office/drawing/2014/main" id="{407E560F-6E40-C8F4-A4E8-66EE2CCFEC6B}"/>
                  </a:ext>
                </a:extLst>
              </p:cNvPr>
              <p:cNvCxnSpPr>
                <a:cxnSpLocks/>
                <a:stCxn id="7" idx="2"/>
                <a:endCxn id="12" idx="0"/>
              </p:cNvCxnSpPr>
              <p:nvPr/>
            </p:nvCxnSpPr>
            <p:spPr>
              <a:xfrm flipH="1">
                <a:off x="8973308" y="1089803"/>
                <a:ext cx="597" cy="5124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6" name="Group 15">
                <a:extLst>
                  <a:ext uri="{FF2B5EF4-FFF2-40B4-BE49-F238E27FC236}">
                    <a16:creationId xmlns:a16="http://schemas.microsoft.com/office/drawing/2014/main" id="{FD21E555-22F2-7F45-3701-A9AAE447B9CE}"/>
                  </a:ext>
                </a:extLst>
              </p:cNvPr>
              <p:cNvGrpSpPr/>
              <p:nvPr/>
            </p:nvGrpSpPr>
            <p:grpSpPr>
              <a:xfrm>
                <a:off x="7644381" y="2739460"/>
                <a:ext cx="2656659" cy="474853"/>
                <a:chOff x="4829223" y="2520443"/>
                <a:chExt cx="2656659" cy="1036320"/>
              </a:xfrm>
              <a:solidFill>
                <a:schemeClr val="accent4">
                  <a:lumMod val="20000"/>
                  <a:lumOff val="80000"/>
                </a:schemeClr>
              </a:solidFill>
            </p:grpSpPr>
            <p:sp>
              <p:nvSpPr>
                <p:cNvPr id="17" name="Rectangle: Rounded Corners 16">
                  <a:extLst>
                    <a:ext uri="{FF2B5EF4-FFF2-40B4-BE49-F238E27FC236}">
                      <a16:creationId xmlns:a16="http://schemas.microsoft.com/office/drawing/2014/main" id="{8372CA40-9F10-F866-CC1F-4C875A78BD61}"/>
                    </a:ext>
                  </a:extLst>
                </p:cNvPr>
                <p:cNvSpPr/>
                <p:nvPr/>
              </p:nvSpPr>
              <p:spPr>
                <a:xfrm>
                  <a:off x="4829223" y="2520443"/>
                  <a:ext cx="2656659" cy="1036320"/>
                </a:xfrm>
                <a:prstGeom prst="roundRect">
                  <a:avLst/>
                </a:prstGeom>
                <a:solidFill>
                  <a:srgbClr val="FFDD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7D4368E-BB67-60CB-8D8B-C777FC860CB8}"/>
                    </a:ext>
                  </a:extLst>
                </p:cNvPr>
                <p:cNvSpPr txBox="1"/>
                <p:nvPr/>
              </p:nvSpPr>
              <p:spPr>
                <a:xfrm>
                  <a:off x="5528052" y="2635587"/>
                  <a:ext cx="1259000" cy="806031"/>
                </a:xfrm>
                <a:prstGeom prst="rect">
                  <a:avLst/>
                </a:prstGeom>
                <a:solidFill>
                  <a:srgbClr val="FFDDB0"/>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MediaFile</a:t>
                  </a:r>
                </a:p>
              </p:txBody>
            </p:sp>
          </p:grpSp>
          <p:cxnSp>
            <p:nvCxnSpPr>
              <p:cNvPr id="19" name="Straight Arrow Connector 18">
                <a:extLst>
                  <a:ext uri="{FF2B5EF4-FFF2-40B4-BE49-F238E27FC236}">
                    <a16:creationId xmlns:a16="http://schemas.microsoft.com/office/drawing/2014/main" id="{BA323952-19A3-9C08-6260-06EBD060B681}"/>
                  </a:ext>
                </a:extLst>
              </p:cNvPr>
              <p:cNvCxnSpPr>
                <a:cxnSpLocks/>
                <a:stCxn id="12" idx="2"/>
                <a:endCxn id="17" idx="0"/>
              </p:cNvCxnSpPr>
              <p:nvPr/>
            </p:nvCxnSpPr>
            <p:spPr>
              <a:xfrm flipH="1">
                <a:off x="8972711" y="2182051"/>
                <a:ext cx="597" cy="5574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6" name="Group 25">
                <a:extLst>
                  <a:ext uri="{FF2B5EF4-FFF2-40B4-BE49-F238E27FC236}">
                    <a16:creationId xmlns:a16="http://schemas.microsoft.com/office/drawing/2014/main" id="{58D9BFB2-AB5C-5C06-3A28-A2298FF58C88}"/>
                  </a:ext>
                </a:extLst>
              </p:cNvPr>
              <p:cNvGrpSpPr/>
              <p:nvPr/>
            </p:nvGrpSpPr>
            <p:grpSpPr>
              <a:xfrm>
                <a:off x="7644380" y="3760589"/>
                <a:ext cx="2656660" cy="474853"/>
                <a:chOff x="4829222" y="2314341"/>
                <a:chExt cx="2656660" cy="1036320"/>
              </a:xfrm>
              <a:solidFill>
                <a:schemeClr val="accent4">
                  <a:lumMod val="20000"/>
                  <a:lumOff val="80000"/>
                </a:schemeClr>
              </a:solidFill>
            </p:grpSpPr>
            <p:sp>
              <p:nvSpPr>
                <p:cNvPr id="27" name="Rectangle: Rounded Corners 26">
                  <a:extLst>
                    <a:ext uri="{FF2B5EF4-FFF2-40B4-BE49-F238E27FC236}">
                      <a16:creationId xmlns:a16="http://schemas.microsoft.com/office/drawing/2014/main" id="{C3045655-825F-63DA-AD36-7473A3816214}"/>
                    </a:ext>
                  </a:extLst>
                </p:cNvPr>
                <p:cNvSpPr/>
                <p:nvPr/>
              </p:nvSpPr>
              <p:spPr>
                <a:xfrm>
                  <a:off x="4829222" y="2314341"/>
                  <a:ext cx="2656660" cy="1036320"/>
                </a:xfrm>
                <a:prstGeom prst="roundRect">
                  <a:avLst/>
                </a:prstGeom>
                <a:solidFill>
                  <a:srgbClr val="FFBE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88F47ED6-A45E-8F33-8936-47130FDC7535}"/>
                    </a:ext>
                  </a:extLst>
                </p:cNvPr>
                <p:cNvSpPr txBox="1"/>
                <p:nvPr/>
              </p:nvSpPr>
              <p:spPr>
                <a:xfrm>
                  <a:off x="5381333" y="2443205"/>
                  <a:ext cx="1782661" cy="806031"/>
                </a:xfrm>
                <a:prstGeom prst="rect">
                  <a:avLst/>
                </a:prstGeom>
                <a:solidFill>
                  <a:srgbClr val="FFBE91"/>
                </a:solidFill>
              </p:spPr>
              <p:txBody>
                <a:bodyPr wrap="square" rtlCol="0">
                  <a:spAutoFit/>
                </a:bodyPr>
                <a:lstStyle/>
                <a:p>
                  <a:r>
                    <a:rPr lang="vi-VN">
                      <a:latin typeface="Calibri" panose="020F0502020204030204" pitchFamily="34" charset="0"/>
                      <a:ea typeface="Calibri" panose="020F0502020204030204" pitchFamily="34" charset="0"/>
                      <a:cs typeface="Calibri" panose="020F0502020204030204" pitchFamily="34" charset="0"/>
                    </a:rPr>
                    <a:t>Reader / Writer</a:t>
                  </a:r>
                </a:p>
              </p:txBody>
            </p:sp>
          </p:grpSp>
          <p:cxnSp>
            <p:nvCxnSpPr>
              <p:cNvPr id="29" name="Straight Arrow Connector 28">
                <a:extLst>
                  <a:ext uri="{FF2B5EF4-FFF2-40B4-BE49-F238E27FC236}">
                    <a16:creationId xmlns:a16="http://schemas.microsoft.com/office/drawing/2014/main" id="{11D69E4A-258C-E7A9-934D-90125C290FE9}"/>
                  </a:ext>
                </a:extLst>
              </p:cNvPr>
              <p:cNvCxnSpPr>
                <a:cxnSpLocks/>
                <a:stCxn id="17" idx="2"/>
                <a:endCxn id="27" idx="0"/>
              </p:cNvCxnSpPr>
              <p:nvPr/>
            </p:nvCxnSpPr>
            <p:spPr>
              <a:xfrm flipH="1">
                <a:off x="8972710" y="3214313"/>
                <a:ext cx="1" cy="5462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5DB58930-2A03-37F3-7F20-9DE1F01A2989}"/>
                  </a:ext>
                </a:extLst>
              </p:cNvPr>
              <p:cNvCxnSpPr>
                <a:cxnSpLocks/>
                <a:endCxn id="8" idx="0"/>
              </p:cNvCxnSpPr>
              <p:nvPr/>
            </p:nvCxnSpPr>
            <p:spPr>
              <a:xfrm>
                <a:off x="5393873" y="1260853"/>
                <a:ext cx="0" cy="3545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6D4B7FBF-5076-82EE-62B0-8825EFF28686}"/>
                  </a:ext>
                </a:extLst>
              </p:cNvPr>
              <p:cNvCxnSpPr>
                <a:cxnSpLocks/>
              </p:cNvCxnSpPr>
              <p:nvPr/>
            </p:nvCxnSpPr>
            <p:spPr>
              <a:xfrm>
                <a:off x="12704052" y="1240446"/>
                <a:ext cx="0" cy="3545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46" name="Straight Connector 45">
              <a:extLst>
                <a:ext uri="{FF2B5EF4-FFF2-40B4-BE49-F238E27FC236}">
                  <a16:creationId xmlns:a16="http://schemas.microsoft.com/office/drawing/2014/main" id="{2753F78B-A527-03F9-4BAC-9395E07AD43F}"/>
                </a:ext>
              </a:extLst>
            </p:cNvPr>
            <p:cNvCxnSpPr/>
            <p:nvPr/>
          </p:nvCxnSpPr>
          <p:spPr>
            <a:xfrm flipV="1">
              <a:off x="1510720" y="2215171"/>
              <a:ext cx="7310180" cy="20407"/>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417101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8A571-E9BA-531B-5DF4-682202FF4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A4AE3D-DBD9-B1BB-5B29-4D3C4945C358}"/>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Public APIs</a:t>
            </a:r>
          </a:p>
        </p:txBody>
      </p:sp>
      <p:sp>
        <p:nvSpPr>
          <p:cNvPr id="4" name="TextBox 3">
            <a:extLst>
              <a:ext uri="{FF2B5EF4-FFF2-40B4-BE49-F238E27FC236}">
                <a16:creationId xmlns:a16="http://schemas.microsoft.com/office/drawing/2014/main" id="{AEBEE259-8FDD-68CA-71CF-0AF6981F0C3E}"/>
              </a:ext>
            </a:extLst>
          </p:cNvPr>
          <p:cNvSpPr txBox="1"/>
          <p:nvPr/>
        </p:nvSpPr>
        <p:spPr>
          <a:xfrm>
            <a:off x="1075482" y="2104906"/>
            <a:ext cx="2809753" cy="2246769"/>
          </a:xfrm>
          <a:prstGeom prst="rect">
            <a:avLst/>
          </a:prstGeom>
          <a:noFill/>
        </p:spPr>
        <p:txBody>
          <a:bodyPr wrap="square">
            <a:spAutoFit/>
          </a:bodyPr>
          <a:lstStyle/>
          <a:p>
            <a:pPr>
              <a:buNone/>
            </a:pPr>
            <a:r>
              <a:rPr lang="vi-VN" sz="2000" b="1">
                <a:latin typeface="Calibri" panose="020F0502020204030204" pitchFamily="34" charset="0"/>
                <a:ea typeface="Calibri" panose="020F0502020204030204" pitchFamily="34" charset="0"/>
                <a:cs typeface="Calibri" panose="020F0502020204030204" pitchFamily="34" charset="0"/>
              </a:rPr>
              <a:t>Entry Points</a:t>
            </a:r>
          </a:p>
          <a:p>
            <a:pPr>
              <a:buNone/>
            </a:pPr>
            <a:endParaRPr lang="vi-VN" sz="2000" b="1">
              <a:latin typeface="Calibri" panose="020F0502020204030204" pitchFamily="34" charset="0"/>
              <a:ea typeface="Calibri" panose="020F0502020204030204" pitchFamily="34" charset="0"/>
              <a:cs typeface="Calibri" panose="020F0502020204030204" pitchFamily="34" charset="0"/>
            </a:endParaRPr>
          </a:p>
          <a:p>
            <a:pPr rtl="0">
              <a:buNone/>
            </a:pPr>
            <a:r>
              <a:rPr lang="vi-VN" sz="2000">
                <a:latin typeface="Calibri" panose="020F0502020204030204" pitchFamily="34" charset="0"/>
                <a:ea typeface="Calibri" panose="020F0502020204030204" pitchFamily="34" charset="0"/>
                <a:cs typeface="Calibri" panose="020F0502020204030204" pitchFamily="34" charset="0"/>
              </a:rPr>
              <a:t>MotionPhotoInfo (Read)</a:t>
            </a:r>
          </a:p>
          <a:p>
            <a:pPr rtl="0">
              <a:buNone/>
            </a:pPr>
            <a:endParaRPr lang="vi-VN" sz="2000">
              <a:latin typeface="Calibri" panose="020F0502020204030204" pitchFamily="34" charset="0"/>
              <a:ea typeface="Calibri" panose="020F0502020204030204" pitchFamily="34" charset="0"/>
              <a:cs typeface="Calibri" panose="020F0502020204030204" pitchFamily="34" charset="0"/>
            </a:endParaRPr>
          </a:p>
          <a:p>
            <a:pPr rtl="0">
              <a:buNone/>
            </a:pPr>
            <a:r>
              <a:rPr lang="vi-VN" sz="2000">
                <a:latin typeface="Calibri" panose="020F0502020204030204" pitchFamily="34" charset="0"/>
                <a:ea typeface="Calibri" panose="020F0502020204030204" pitchFamily="34" charset="0"/>
                <a:cs typeface="Calibri" panose="020F0502020204030204" pitchFamily="34" charset="0"/>
              </a:rPr>
              <a:t>──────────────</a:t>
            </a:r>
          </a:p>
          <a:p>
            <a:pPr rtl="0">
              <a:buNone/>
            </a:pPr>
            <a:endParaRPr lang="vi-VN" sz="2000">
              <a:latin typeface="Calibri" panose="020F0502020204030204" pitchFamily="34" charset="0"/>
              <a:ea typeface="Calibri" panose="020F0502020204030204" pitchFamily="34" charset="0"/>
              <a:cs typeface="Calibri" panose="020F0502020204030204" pitchFamily="34" charset="0"/>
            </a:endParaRPr>
          </a:p>
          <a:p>
            <a:pPr rtl="0">
              <a:buNone/>
            </a:pPr>
            <a:r>
              <a:rPr lang="vi-VN" sz="2000">
                <a:latin typeface="Calibri" panose="020F0502020204030204" pitchFamily="34" charset="0"/>
                <a:ea typeface="Calibri" panose="020F0502020204030204" pitchFamily="34" charset="0"/>
                <a:cs typeface="Calibri" panose="020F0502020204030204" pitchFamily="34" charset="0"/>
              </a:rPr>
              <a:t>MotionPhotoEdit (Edit)</a:t>
            </a:r>
          </a:p>
        </p:txBody>
      </p:sp>
      <p:sp>
        <p:nvSpPr>
          <p:cNvPr id="14" name="TextBox 13">
            <a:extLst>
              <a:ext uri="{FF2B5EF4-FFF2-40B4-BE49-F238E27FC236}">
                <a16:creationId xmlns:a16="http://schemas.microsoft.com/office/drawing/2014/main" id="{EAAD70A4-77A5-B3A5-5D11-DC84943E0C57}"/>
              </a:ext>
            </a:extLst>
          </p:cNvPr>
          <p:cNvSpPr txBox="1"/>
          <p:nvPr/>
        </p:nvSpPr>
        <p:spPr>
          <a:xfrm>
            <a:off x="1075482" y="4848932"/>
            <a:ext cx="6094070" cy="1231106"/>
          </a:xfrm>
          <a:prstGeom prst="rect">
            <a:avLst/>
          </a:prstGeom>
          <a:noFill/>
        </p:spPr>
        <p:txBody>
          <a:bodyPr wrap="square">
            <a:spAutoFit/>
          </a:bodyPr>
          <a:lstStyle/>
          <a:p>
            <a:pPr>
              <a:buNone/>
            </a:pPr>
            <a:r>
              <a:rPr lang="vi-VN" sz="2000" i="1">
                <a:latin typeface="Calibri" panose="020F0502020204030204" pitchFamily="34" charset="0"/>
                <a:ea typeface="Calibri" panose="020F0502020204030204" pitchFamily="34" charset="0"/>
                <a:cs typeface="Calibri" panose="020F0502020204030204" pitchFamily="34" charset="0"/>
              </a:rPr>
              <a:t>Example</a:t>
            </a:r>
          </a:p>
          <a:p>
            <a:pPr rtl="0">
              <a:buNone/>
            </a:pPr>
            <a:r>
              <a:rPr lang="vi-VN">
                <a:latin typeface="Courier New" panose="02070309020205020404" pitchFamily="49" charset="0"/>
              </a:rPr>
              <a:t>MotionPhotoInfo.parse(file)</a:t>
            </a:r>
          </a:p>
          <a:p>
            <a:pPr rtl="0">
              <a:buNone/>
            </a:pPr>
            <a:endParaRPr lang="vi-VN">
              <a:latin typeface="Courier New" panose="02070309020205020404" pitchFamily="49" charset="0"/>
            </a:endParaRPr>
          </a:p>
          <a:p>
            <a:pPr rtl="0">
              <a:buNone/>
            </a:pPr>
            <a:r>
              <a:rPr lang="vi-VN">
                <a:latin typeface="Courier New" panose="02070309020205020404" pitchFamily="49" charset="0"/>
              </a:rPr>
              <a:t>MotionPhotoInfo.edit(file)</a:t>
            </a:r>
          </a:p>
        </p:txBody>
      </p:sp>
      <p:sp>
        <p:nvSpPr>
          <p:cNvPr id="21" name="TextBox 20">
            <a:extLst>
              <a:ext uri="{FF2B5EF4-FFF2-40B4-BE49-F238E27FC236}">
                <a16:creationId xmlns:a16="http://schemas.microsoft.com/office/drawing/2014/main" id="{6AD5268E-472C-6516-D703-812ACAED8CF0}"/>
              </a:ext>
            </a:extLst>
          </p:cNvPr>
          <p:cNvSpPr txBox="1"/>
          <p:nvPr/>
        </p:nvSpPr>
        <p:spPr>
          <a:xfrm>
            <a:off x="838200" y="1393515"/>
            <a:ext cx="6094070" cy="400110"/>
          </a:xfrm>
          <a:prstGeom prst="rect">
            <a:avLst/>
          </a:prstGeom>
          <a:noFill/>
        </p:spPr>
        <p:txBody>
          <a:bodyPr wrap="square">
            <a:spAutoFit/>
          </a:bodyPr>
          <a:lstStyle/>
          <a:p>
            <a:r>
              <a:rPr lang="en-US" sz="2000"/>
              <a:t>Applications interact only with public APIs.</a:t>
            </a:r>
            <a:endParaRPr lang="vi-VN" sz="2000"/>
          </a:p>
        </p:txBody>
      </p:sp>
    </p:spTree>
    <p:extLst>
      <p:ext uri="{BB962C8B-B14F-4D97-AF65-F5344CB8AC3E}">
        <p14:creationId xmlns:p14="http://schemas.microsoft.com/office/powerpoint/2010/main" val="3486631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213FC-7541-73E2-36FB-DE62D83C3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0B969F-F6CE-E599-2941-F8B16721B947}"/>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MediaFile Abstraction</a:t>
            </a:r>
          </a:p>
        </p:txBody>
      </p:sp>
      <p:sp>
        <p:nvSpPr>
          <p:cNvPr id="14" name="TextBox 13">
            <a:extLst>
              <a:ext uri="{FF2B5EF4-FFF2-40B4-BE49-F238E27FC236}">
                <a16:creationId xmlns:a16="http://schemas.microsoft.com/office/drawing/2014/main" id="{A1FBA4C6-19C0-E8C8-5270-5F3E19A6BF9C}"/>
              </a:ext>
            </a:extLst>
          </p:cNvPr>
          <p:cNvSpPr txBox="1"/>
          <p:nvPr/>
        </p:nvSpPr>
        <p:spPr>
          <a:xfrm>
            <a:off x="1075482" y="4848932"/>
            <a:ext cx="6094070" cy="1231106"/>
          </a:xfrm>
          <a:prstGeom prst="rect">
            <a:avLst/>
          </a:prstGeom>
          <a:noFill/>
        </p:spPr>
        <p:txBody>
          <a:bodyPr wrap="square">
            <a:spAutoFit/>
          </a:bodyPr>
          <a:lstStyle/>
          <a:p>
            <a:pPr>
              <a:buNone/>
            </a:pPr>
            <a:r>
              <a:rPr lang="vi-VN" sz="2000" i="1">
                <a:latin typeface="Calibri" panose="020F0502020204030204" pitchFamily="34" charset="0"/>
                <a:ea typeface="Calibri" panose="020F0502020204030204" pitchFamily="34" charset="0"/>
                <a:cs typeface="Calibri" panose="020F0502020204030204" pitchFamily="34" charset="0"/>
              </a:rPr>
              <a:t>Example</a:t>
            </a:r>
          </a:p>
          <a:p>
            <a:pPr rtl="0">
              <a:buNone/>
            </a:pPr>
            <a:r>
              <a:rPr lang="vi-VN">
                <a:latin typeface="Courier New" panose="02070309020205020404" pitchFamily="49" charset="0"/>
              </a:rPr>
              <a:t>MotionPhotoInfo.parse(file)</a:t>
            </a:r>
          </a:p>
          <a:p>
            <a:pPr rtl="0">
              <a:buNone/>
            </a:pPr>
            <a:endParaRPr lang="vi-VN">
              <a:latin typeface="Courier New" panose="02070309020205020404" pitchFamily="49" charset="0"/>
            </a:endParaRPr>
          </a:p>
          <a:p>
            <a:pPr rtl="0">
              <a:buNone/>
            </a:pPr>
            <a:r>
              <a:rPr lang="vi-VN">
                <a:latin typeface="Courier New" panose="02070309020205020404" pitchFamily="49" charset="0"/>
              </a:rPr>
              <a:t>MotionPhotoInfo.edit(file)</a:t>
            </a:r>
          </a:p>
        </p:txBody>
      </p:sp>
      <p:sp>
        <p:nvSpPr>
          <p:cNvPr id="21" name="TextBox 20">
            <a:extLst>
              <a:ext uri="{FF2B5EF4-FFF2-40B4-BE49-F238E27FC236}">
                <a16:creationId xmlns:a16="http://schemas.microsoft.com/office/drawing/2014/main" id="{995AAF10-48E9-464A-D879-07E09F04C176}"/>
              </a:ext>
            </a:extLst>
          </p:cNvPr>
          <p:cNvSpPr txBox="1"/>
          <p:nvPr/>
        </p:nvSpPr>
        <p:spPr>
          <a:xfrm>
            <a:off x="838200" y="1490633"/>
            <a:ext cx="6094070" cy="400110"/>
          </a:xfrm>
          <a:prstGeom prst="rect">
            <a:avLst/>
          </a:prstGeom>
          <a:noFill/>
        </p:spPr>
        <p:txBody>
          <a:bodyPr wrap="square">
            <a:spAutoFit/>
          </a:bodyPr>
          <a:lstStyle/>
          <a:p>
            <a:r>
              <a:rPr lang="en-US" sz="2000"/>
              <a:t>MediaFile hides file format differences.</a:t>
            </a:r>
            <a:endParaRPr lang="vi-VN" sz="2000"/>
          </a:p>
        </p:txBody>
      </p:sp>
      <p:sp>
        <p:nvSpPr>
          <p:cNvPr id="7" name="TextBox 6">
            <a:extLst>
              <a:ext uri="{FF2B5EF4-FFF2-40B4-BE49-F238E27FC236}">
                <a16:creationId xmlns:a16="http://schemas.microsoft.com/office/drawing/2014/main" id="{426B6CA2-B0B5-3AF4-57BC-F1FE15BD857F}"/>
              </a:ext>
            </a:extLst>
          </p:cNvPr>
          <p:cNvSpPr txBox="1"/>
          <p:nvPr/>
        </p:nvSpPr>
        <p:spPr>
          <a:xfrm>
            <a:off x="928868" y="2298897"/>
            <a:ext cx="4557531" cy="142962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Wrap media files </a:t>
            </a:r>
          </a:p>
          <a:p>
            <a:pPr marL="342900" indent="-342900">
              <a:lnSpc>
                <a:spcPct val="150000"/>
              </a:lnSpc>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Detect media format </a:t>
            </a:r>
          </a:p>
          <a:p>
            <a:pPr marL="342900" indent="-342900">
              <a:lnSpc>
                <a:spcPct val="150000"/>
              </a:lnSpc>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Route to correct implementation </a:t>
            </a:r>
          </a:p>
        </p:txBody>
      </p:sp>
      <p:pic>
        <p:nvPicPr>
          <p:cNvPr id="9" name="Picture 8">
            <a:extLst>
              <a:ext uri="{FF2B5EF4-FFF2-40B4-BE49-F238E27FC236}">
                <a16:creationId xmlns:a16="http://schemas.microsoft.com/office/drawing/2014/main" id="{D1156251-6240-9677-F748-7CE0BB3BA2E9}"/>
              </a:ext>
            </a:extLst>
          </p:cNvPr>
          <p:cNvPicPr>
            <a:picLocks noChangeAspect="1"/>
          </p:cNvPicPr>
          <p:nvPr/>
        </p:nvPicPr>
        <p:blipFill>
          <a:blip r:embed="rId3"/>
          <a:stretch>
            <a:fillRect/>
          </a:stretch>
        </p:blipFill>
        <p:spPr>
          <a:xfrm>
            <a:off x="7542005" y="793388"/>
            <a:ext cx="2585844" cy="5583923"/>
          </a:xfrm>
          <a:prstGeom prst="rect">
            <a:avLst/>
          </a:prstGeom>
        </p:spPr>
      </p:pic>
    </p:spTree>
    <p:extLst>
      <p:ext uri="{BB962C8B-B14F-4D97-AF65-F5344CB8AC3E}">
        <p14:creationId xmlns:p14="http://schemas.microsoft.com/office/powerpoint/2010/main" val="1048567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06099-3AD3-4119-566E-89DF62AC6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B22A1-14CF-D26C-5C3B-E6C7A9B95631}"/>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Metadata Reading Pipeline</a:t>
            </a:r>
          </a:p>
        </p:txBody>
      </p:sp>
      <p:sp>
        <p:nvSpPr>
          <p:cNvPr id="21" name="TextBox 20">
            <a:extLst>
              <a:ext uri="{FF2B5EF4-FFF2-40B4-BE49-F238E27FC236}">
                <a16:creationId xmlns:a16="http://schemas.microsoft.com/office/drawing/2014/main" id="{461EF9FF-6938-38C9-98EB-E92661738657}"/>
              </a:ext>
            </a:extLst>
          </p:cNvPr>
          <p:cNvSpPr txBox="1"/>
          <p:nvPr/>
        </p:nvSpPr>
        <p:spPr>
          <a:xfrm>
            <a:off x="838200" y="1490633"/>
            <a:ext cx="6094070" cy="400110"/>
          </a:xfrm>
          <a:prstGeom prst="rect">
            <a:avLst/>
          </a:prstGeom>
          <a:noFill/>
        </p:spPr>
        <p:txBody>
          <a:bodyPr wrap="square">
            <a:spAutoFit/>
          </a:bodyPr>
          <a:lstStyle/>
          <a:p>
            <a:r>
              <a:rPr lang="en-US" sz="2000"/>
              <a:t>Readers are responsible for parsing metadata.</a:t>
            </a:r>
            <a:endParaRPr lang="vi-VN" sz="2000"/>
          </a:p>
        </p:txBody>
      </p:sp>
      <p:sp>
        <p:nvSpPr>
          <p:cNvPr id="10" name="TextBox 9">
            <a:extLst>
              <a:ext uri="{FF2B5EF4-FFF2-40B4-BE49-F238E27FC236}">
                <a16:creationId xmlns:a16="http://schemas.microsoft.com/office/drawing/2014/main" id="{D4F629DA-021C-607E-AEE6-79C0B8BA8535}"/>
              </a:ext>
            </a:extLst>
          </p:cNvPr>
          <p:cNvSpPr txBox="1"/>
          <p:nvPr/>
        </p:nvSpPr>
        <p:spPr>
          <a:xfrm>
            <a:off x="947193" y="2446311"/>
            <a:ext cx="3699077" cy="142962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Lazy loading </a:t>
            </a:r>
          </a:p>
          <a:p>
            <a:pPr marL="285750" indent="-285750">
              <a:lnSpc>
                <a:spcPct val="150000"/>
              </a:lnSpc>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Format independent </a:t>
            </a:r>
          </a:p>
          <a:p>
            <a:pPr marL="285750" indent="-285750">
              <a:lnSpc>
                <a:spcPct val="150000"/>
              </a:lnSpc>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Reader based architecture</a:t>
            </a:r>
          </a:p>
        </p:txBody>
      </p:sp>
      <p:pic>
        <p:nvPicPr>
          <p:cNvPr id="12" name="Picture 11">
            <a:extLst>
              <a:ext uri="{FF2B5EF4-FFF2-40B4-BE49-F238E27FC236}">
                <a16:creationId xmlns:a16="http://schemas.microsoft.com/office/drawing/2014/main" id="{DBBC9D7F-CA42-C265-6FA9-69E61ADA2EF1}"/>
              </a:ext>
            </a:extLst>
          </p:cNvPr>
          <p:cNvPicPr>
            <a:picLocks noChangeAspect="1"/>
          </p:cNvPicPr>
          <p:nvPr/>
        </p:nvPicPr>
        <p:blipFill>
          <a:blip r:embed="rId3"/>
          <a:stretch>
            <a:fillRect/>
          </a:stretch>
        </p:blipFill>
        <p:spPr>
          <a:xfrm>
            <a:off x="8286230" y="169179"/>
            <a:ext cx="1961497" cy="6519641"/>
          </a:xfrm>
          <a:prstGeom prst="rect">
            <a:avLst/>
          </a:prstGeom>
        </p:spPr>
      </p:pic>
    </p:spTree>
    <p:extLst>
      <p:ext uri="{BB962C8B-B14F-4D97-AF65-F5344CB8AC3E}">
        <p14:creationId xmlns:p14="http://schemas.microsoft.com/office/powerpoint/2010/main" val="1579069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9330-A66C-ABDD-62AA-C0A859DA6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D62B47-F2D3-148E-9E5B-76D719F6854D}"/>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Metadata Editing Pipeline</a:t>
            </a:r>
          </a:p>
        </p:txBody>
      </p:sp>
      <p:sp>
        <p:nvSpPr>
          <p:cNvPr id="10" name="TextBox 9">
            <a:extLst>
              <a:ext uri="{FF2B5EF4-FFF2-40B4-BE49-F238E27FC236}">
                <a16:creationId xmlns:a16="http://schemas.microsoft.com/office/drawing/2014/main" id="{2BBE0AF0-DDE3-7541-E83A-2C843DAB2DF8}"/>
              </a:ext>
            </a:extLst>
          </p:cNvPr>
          <p:cNvSpPr txBox="1"/>
          <p:nvPr/>
        </p:nvSpPr>
        <p:spPr>
          <a:xfrm>
            <a:off x="838200" y="1690688"/>
            <a:ext cx="3699077" cy="142763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Buffer edits </a:t>
            </a:r>
          </a:p>
          <a:p>
            <a:pPr marL="285750" indent="-285750">
              <a:lnSpc>
                <a:spcPct val="150000"/>
              </a:lnSpc>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Update metadata </a:t>
            </a:r>
          </a:p>
          <a:p>
            <a:pPr marL="285750" indent="-285750">
              <a:lnSpc>
                <a:spcPct val="150000"/>
              </a:lnSpc>
              <a:buFont typeface="Arial" panose="020B0604020202020204" pitchFamily="34" charset="0"/>
              <a:buChar char="•"/>
            </a:pPr>
            <a:r>
              <a:rPr lang="vi-VN" sz="2000">
                <a:latin typeface="Calibri" panose="020F0502020204030204" pitchFamily="34" charset="0"/>
                <a:ea typeface="Calibri" panose="020F0502020204030204" pitchFamily="34" charset="0"/>
                <a:cs typeface="Calibri" panose="020F0502020204030204" pitchFamily="34" charset="0"/>
              </a:rPr>
              <a:t>Commit changes</a:t>
            </a:r>
          </a:p>
        </p:txBody>
      </p:sp>
      <p:pic>
        <p:nvPicPr>
          <p:cNvPr id="4" name="Picture 3">
            <a:extLst>
              <a:ext uri="{FF2B5EF4-FFF2-40B4-BE49-F238E27FC236}">
                <a16:creationId xmlns:a16="http://schemas.microsoft.com/office/drawing/2014/main" id="{3CE4E709-32EA-3A65-1D8F-F332BE940CA8}"/>
              </a:ext>
            </a:extLst>
          </p:cNvPr>
          <p:cNvPicPr>
            <a:picLocks noChangeAspect="1"/>
          </p:cNvPicPr>
          <p:nvPr/>
        </p:nvPicPr>
        <p:blipFill>
          <a:blip r:embed="rId3"/>
          <a:stretch>
            <a:fillRect/>
          </a:stretch>
        </p:blipFill>
        <p:spPr>
          <a:xfrm>
            <a:off x="8912453" y="585256"/>
            <a:ext cx="2091194" cy="5907619"/>
          </a:xfrm>
          <a:prstGeom prst="rect">
            <a:avLst/>
          </a:prstGeom>
        </p:spPr>
      </p:pic>
      <p:sp>
        <p:nvSpPr>
          <p:cNvPr id="6" name="TextBox 5">
            <a:extLst>
              <a:ext uri="{FF2B5EF4-FFF2-40B4-BE49-F238E27FC236}">
                <a16:creationId xmlns:a16="http://schemas.microsoft.com/office/drawing/2014/main" id="{5141EDE4-09E5-B82A-AB11-1F7CAA3DA90B}"/>
              </a:ext>
            </a:extLst>
          </p:cNvPr>
          <p:cNvSpPr txBox="1"/>
          <p:nvPr/>
        </p:nvSpPr>
        <p:spPr>
          <a:xfrm>
            <a:off x="1188353" y="5307521"/>
            <a:ext cx="6094070" cy="400110"/>
          </a:xfrm>
          <a:prstGeom prst="rect">
            <a:avLst/>
          </a:prstGeom>
          <a:noFill/>
        </p:spPr>
        <p:txBody>
          <a:bodyPr wrap="square">
            <a:spAutoFit/>
          </a:bodyPr>
          <a:lstStyle/>
          <a:p>
            <a:r>
              <a:rPr lang="en-US" sz="2000">
                <a:solidFill>
                  <a:srgbClr val="FF0000"/>
                </a:solidFill>
              </a:rPr>
              <a:t>*</a:t>
            </a:r>
            <a:r>
              <a:rPr lang="en-US" sz="2000"/>
              <a:t> Nothing is written until commit().</a:t>
            </a:r>
            <a:endParaRPr lang="vi-VN" sz="2000"/>
          </a:p>
        </p:txBody>
      </p:sp>
    </p:spTree>
    <p:extLst>
      <p:ext uri="{BB962C8B-B14F-4D97-AF65-F5344CB8AC3E}">
        <p14:creationId xmlns:p14="http://schemas.microsoft.com/office/powerpoint/2010/main" val="198220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F7989-5D76-0512-6BB3-B320C7FD0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B6DF6-0067-4ECA-8F5F-684AB6C911E7}"/>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Typical Use Cases</a:t>
            </a:r>
          </a:p>
        </p:txBody>
      </p:sp>
      <p:pic>
        <p:nvPicPr>
          <p:cNvPr id="8" name="Picture 7">
            <a:extLst>
              <a:ext uri="{FF2B5EF4-FFF2-40B4-BE49-F238E27FC236}">
                <a16:creationId xmlns:a16="http://schemas.microsoft.com/office/drawing/2014/main" id="{8D819D6B-575A-728A-CBA7-964227D28E42}"/>
              </a:ext>
            </a:extLst>
          </p:cNvPr>
          <p:cNvPicPr>
            <a:picLocks noChangeAspect="1"/>
          </p:cNvPicPr>
          <p:nvPr/>
        </p:nvPicPr>
        <p:blipFill>
          <a:blip r:embed="rId3"/>
          <a:stretch>
            <a:fillRect/>
          </a:stretch>
        </p:blipFill>
        <p:spPr>
          <a:xfrm>
            <a:off x="7654725" y="908942"/>
            <a:ext cx="2392100" cy="5397052"/>
          </a:xfrm>
          <a:prstGeom prst="rect">
            <a:avLst/>
          </a:prstGeom>
        </p:spPr>
      </p:pic>
    </p:spTree>
    <p:extLst>
      <p:ext uri="{BB962C8B-B14F-4D97-AF65-F5344CB8AC3E}">
        <p14:creationId xmlns:p14="http://schemas.microsoft.com/office/powerpoint/2010/main" val="747664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DFC83-100B-5076-A588-6E65BDBE9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75288-802A-99A3-FB0C-7F439198B5F5}"/>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Google Photo Reconstruction</a:t>
            </a:r>
          </a:p>
        </p:txBody>
      </p:sp>
      <p:pic>
        <p:nvPicPr>
          <p:cNvPr id="4" name="Picture 3">
            <a:extLst>
              <a:ext uri="{FF2B5EF4-FFF2-40B4-BE49-F238E27FC236}">
                <a16:creationId xmlns:a16="http://schemas.microsoft.com/office/drawing/2014/main" id="{DC1576D9-519E-234A-443E-C2331B390D91}"/>
              </a:ext>
            </a:extLst>
          </p:cNvPr>
          <p:cNvPicPr>
            <a:picLocks noChangeAspect="1"/>
          </p:cNvPicPr>
          <p:nvPr/>
        </p:nvPicPr>
        <p:blipFill>
          <a:blip r:embed="rId3"/>
          <a:stretch>
            <a:fillRect/>
          </a:stretch>
        </p:blipFill>
        <p:spPr>
          <a:xfrm>
            <a:off x="8317036" y="952285"/>
            <a:ext cx="2248095" cy="4953429"/>
          </a:xfrm>
          <a:prstGeom prst="rect">
            <a:avLst/>
          </a:prstGeom>
        </p:spPr>
      </p:pic>
    </p:spTree>
    <p:extLst>
      <p:ext uri="{BB962C8B-B14F-4D97-AF65-F5344CB8AC3E}">
        <p14:creationId xmlns:p14="http://schemas.microsoft.com/office/powerpoint/2010/main" val="319176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7F9E7-D953-460C-11A7-515735AEA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59387-9504-EEF9-E4CD-809971519923}"/>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MotionScrap</a:t>
            </a:r>
          </a:p>
        </p:txBody>
      </p:sp>
      <p:pic>
        <p:nvPicPr>
          <p:cNvPr id="5" name="Picture 4">
            <a:extLst>
              <a:ext uri="{FF2B5EF4-FFF2-40B4-BE49-F238E27FC236}">
                <a16:creationId xmlns:a16="http://schemas.microsoft.com/office/drawing/2014/main" id="{3F14D866-6883-4FFF-2062-D0A47F3D8351}"/>
              </a:ext>
            </a:extLst>
          </p:cNvPr>
          <p:cNvPicPr>
            <a:picLocks noChangeAspect="1"/>
          </p:cNvPicPr>
          <p:nvPr/>
        </p:nvPicPr>
        <p:blipFill>
          <a:blip r:embed="rId3"/>
          <a:stretch>
            <a:fillRect/>
          </a:stretch>
        </p:blipFill>
        <p:spPr>
          <a:xfrm>
            <a:off x="8865506" y="1161853"/>
            <a:ext cx="1729890" cy="4534293"/>
          </a:xfrm>
          <a:prstGeom prst="rect">
            <a:avLst/>
          </a:prstGeom>
        </p:spPr>
      </p:pic>
    </p:spTree>
    <p:extLst>
      <p:ext uri="{BB962C8B-B14F-4D97-AF65-F5344CB8AC3E}">
        <p14:creationId xmlns:p14="http://schemas.microsoft.com/office/powerpoint/2010/main" val="2688867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0C629-874A-4BBA-4910-8C61C1D7A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5E77E8-BA02-6216-F506-AF86A9DFB166}"/>
              </a:ext>
            </a:extLst>
          </p:cNvPr>
          <p:cNvSpPr>
            <a:spLocks noGrp="1"/>
          </p:cNvSpPr>
          <p:nvPr>
            <p:ph type="title"/>
          </p:nvPr>
        </p:nvSpPr>
        <p:spPr/>
        <p:txBody>
          <a:bodyPr>
            <a:normAutofit/>
          </a:bodyPr>
          <a:lstStyle/>
          <a:p>
            <a:r>
              <a:rPr lang="vi-VN" b="1">
                <a:latin typeface="Calibri" panose="020F0502020204030204" pitchFamily="34" charset="0"/>
                <a:ea typeface="Calibri" panose="020F0502020204030204" pitchFamily="34" charset="0"/>
                <a:cs typeface="Calibri" panose="020F0502020204030204" pitchFamily="34" charset="0"/>
              </a:rPr>
              <a:t>Visual Transcoding Engine</a:t>
            </a:r>
          </a:p>
        </p:txBody>
      </p:sp>
      <p:pic>
        <p:nvPicPr>
          <p:cNvPr id="4" name="Picture 3">
            <a:extLst>
              <a:ext uri="{FF2B5EF4-FFF2-40B4-BE49-F238E27FC236}">
                <a16:creationId xmlns:a16="http://schemas.microsoft.com/office/drawing/2014/main" id="{0C7220DC-CF32-7465-7437-677F56C40A17}"/>
              </a:ext>
            </a:extLst>
          </p:cNvPr>
          <p:cNvPicPr>
            <a:picLocks noChangeAspect="1"/>
          </p:cNvPicPr>
          <p:nvPr/>
        </p:nvPicPr>
        <p:blipFill>
          <a:blip r:embed="rId3"/>
          <a:stretch>
            <a:fillRect/>
          </a:stretch>
        </p:blipFill>
        <p:spPr>
          <a:xfrm>
            <a:off x="8701949" y="1584151"/>
            <a:ext cx="2103302" cy="4198984"/>
          </a:xfrm>
          <a:prstGeom prst="rect">
            <a:avLst/>
          </a:prstGeom>
        </p:spPr>
      </p:pic>
    </p:spTree>
    <p:extLst>
      <p:ext uri="{BB962C8B-B14F-4D97-AF65-F5344CB8AC3E}">
        <p14:creationId xmlns:p14="http://schemas.microsoft.com/office/powerpoint/2010/main" val="24168358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667</TotalTime>
  <Words>1065</Words>
  <Application>Microsoft Office PowerPoint</Application>
  <PresentationFormat>Widescreen</PresentationFormat>
  <Paragraphs>151</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Courier New</vt:lpstr>
      <vt:lpstr>Times New Roman</vt:lpstr>
      <vt:lpstr>Office Theme</vt:lpstr>
      <vt:lpstr>MotionPhotoUtil</vt:lpstr>
      <vt:lpstr>Overview</vt:lpstr>
      <vt:lpstr>MotionPhotoUtil Media Framework</vt:lpstr>
      <vt:lpstr>Why MPUtil?</vt:lpstr>
      <vt:lpstr>What Can MPUtil Do?</vt:lpstr>
      <vt:lpstr>Overall Architecture</vt:lpstr>
      <vt:lpstr>Overall Architecture</vt:lpstr>
      <vt:lpstr>Framework Structure</vt:lpstr>
      <vt:lpstr>Public APIs</vt:lpstr>
      <vt:lpstr>MediaFile Abstraction</vt:lpstr>
      <vt:lpstr>Metadata Reading Pipeline</vt:lpstr>
      <vt:lpstr>Metadata Editing Pipeline</vt:lpstr>
      <vt:lpstr>Typical Use Cases</vt:lpstr>
      <vt:lpstr>Google Photo Reconstruction</vt:lpstr>
      <vt:lpstr>MotionScrap</vt:lpstr>
      <vt:lpstr>Visual Transcoding Engine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huong hoang</dc:creator>
  <cp:lastModifiedBy>huong hoang</cp:lastModifiedBy>
  <cp:revision>69</cp:revision>
  <dcterms:created xsi:type="dcterms:W3CDTF">2026-07-23T14:34:20Z</dcterms:created>
  <dcterms:modified xsi:type="dcterms:W3CDTF">2026-07-24T01:42:29Z</dcterms:modified>
</cp:coreProperties>
</file>